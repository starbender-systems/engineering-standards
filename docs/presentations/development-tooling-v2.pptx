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68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based on the recommended shared-core and thin-adapter approach supplied in the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End-state summary of the recommended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84F26EE-0D9D-4883-910C-5D99B85377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5CCD66-FE99-4FE0-B2B1-F50ED20D4732}"/>
              </a:ext>
            </a:extLst>
          </p:cNvPr>
          <p:cNvSpPr>
            <a:spLocks noGrp="1"/>
          </p:cNvSpPr>
          <p:nvPr/>
        </p:nvSpPr>
        <p:spPr>
          <a:xfrm>
            <a:off x="7667625" y="0"/>
            <a:ext cx="4524375" cy="6858000"/>
          </a:xfrm>
          <a:prstGeom prst="rect">
            <a:avLst/>
          </a:prstGeom>
          <a:solidFill>
            <a:srgbClr val="0D2D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82E0A0-CDCA-49E5-A0A0-AEA4638D40E4}"/>
              </a:ext>
            </a:extLst>
          </p:cNvPr>
          <p:cNvSpPr>
            <a:spLocks noGrp="1"/>
          </p:cNvSpPr>
          <p:nvPr/>
        </p:nvSpPr>
        <p:spPr>
          <a:xfrm>
            <a:off x="723900" y="1009650"/>
            <a:ext cx="6477000" cy="2476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AGENTIC</a:t>
            </a:r>
          </a:p>
          <a:p>
            <a:pPr algn="l">
              <a:defRPr sz="3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DEVELOPMENT</a:t>
            </a:r>
          </a:p>
          <a:p>
            <a:pPr algn="l">
              <a:defRPr sz="3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TOOLING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E30893-9DF9-43EA-8654-95042FD70A8C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1123950" cy="57150"/>
          </a:xfrm>
          <a:prstGeom prst="rect">
            <a:avLst/>
          </a:prstGeom>
          <a:solidFill>
            <a:srgbClr val="FF8A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11155-0F3B-4FF6-BFD3-026CF9359882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619125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BDEBE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BDEBE7"/>
                </a:solidFill>
                <a:latin typeface="Nimbus Sans"/>
                <a:ea typeface="Nimbus Sans"/>
                <a:cs typeface="Nimbus Sans"/>
              </a:rPr>
              <a:t>A shared configuration model for many repositories and AI agent platforms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8157E5-801E-48D7-9E6B-5BD46D4D116C}"/>
              </a:ext>
            </a:extLst>
          </p:cNvPr>
          <p:cNvSpPr>
            <a:spLocks noGrp="1"/>
          </p:cNvSpPr>
          <p:nvPr/>
        </p:nvSpPr>
        <p:spPr>
          <a:xfrm>
            <a:off x="742950" y="575310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Recommended architecture and implementation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B503E8-96C7-49D9-AB60-C9EFEC4E48FD}"/>
              </a:ext>
            </a:extLst>
          </p:cNvPr>
          <p:cNvSpPr>
            <a:spLocks noGrp="1"/>
          </p:cNvSpPr>
          <p:nvPr/>
        </p:nvSpPr>
        <p:spPr>
          <a:xfrm>
            <a:off x="8572500" y="1219200"/>
            <a:ext cx="2571750" cy="781050"/>
          </a:xfrm>
          <a:prstGeom prst="roundRect">
            <a:avLst>
              <a:gd name="adj" fmla="val 21951"/>
            </a:avLst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C4DB01-376F-4951-85B6-8727AEF39F91}"/>
              </a:ext>
            </a:extLst>
          </p:cNvPr>
          <p:cNvSpPr>
            <a:spLocks noGrp="1"/>
          </p:cNvSpPr>
          <p:nvPr/>
        </p:nvSpPr>
        <p:spPr>
          <a:xfrm>
            <a:off x="8763000" y="1333500"/>
            <a:ext cx="21907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071B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dirty="0">
                <a:solidFill>
                  <a:srgbClr val="071B2E"/>
                </a:solidFill>
                <a:latin typeface="Nimbus Sans"/>
                <a:ea typeface="Nimbus Sans"/>
                <a:cs typeface="Nimbus Sans"/>
              </a:rPr>
              <a:t>SHARED ENGINEERING</a:t>
            </a:r>
          </a:p>
          <a:p>
            <a:pPr algn="ctr">
              <a:defRPr sz="1500" b="1">
                <a:solidFill>
                  <a:srgbClr val="071B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dirty="0">
                <a:solidFill>
                  <a:srgbClr val="071B2E"/>
                </a:solidFill>
                <a:latin typeface="Nimbus Sans"/>
                <a:ea typeface="Nimbus Sans"/>
                <a:cs typeface="Nimbus Sans"/>
              </a:rPr>
              <a:t>KNOWLEDGE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0688A5-79BA-447C-B1FD-98DBC9ABE8CB}"/>
              </a:ext>
            </a:extLst>
          </p:cNvPr>
          <p:cNvSpPr>
            <a:spLocks noGrp="1"/>
          </p:cNvSpPr>
          <p:nvPr/>
        </p:nvSpPr>
        <p:spPr>
          <a:xfrm>
            <a:off x="8191500" y="2800350"/>
            <a:ext cx="333375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92B1FE-036B-47AD-AE1E-5037A0BDC9F6}"/>
              </a:ext>
            </a:extLst>
          </p:cNvPr>
          <p:cNvSpPr>
            <a:spLocks noGrp="1"/>
          </p:cNvSpPr>
          <p:nvPr/>
        </p:nvSpPr>
        <p:spPr>
          <a:xfrm>
            <a:off x="8382000" y="30099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071B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071B2E"/>
                </a:solidFill>
                <a:latin typeface="Nimbus Sans"/>
                <a:ea typeface="Nimbus Sans"/>
                <a:cs typeface="Nimbus Sans"/>
              </a:rPr>
              <a:t>REPOSITORY CONTEXT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17A0C0-4831-43FA-8154-3E7E46917131}"/>
              </a:ext>
            </a:extLst>
          </p:cNvPr>
          <p:cNvSpPr>
            <a:spLocks noGrp="1"/>
          </p:cNvSpPr>
          <p:nvPr/>
        </p:nvSpPr>
        <p:spPr>
          <a:xfrm>
            <a:off x="8189982" y="4610100"/>
            <a:ext cx="990600" cy="666750"/>
          </a:xfrm>
          <a:prstGeom prst="roundRect">
            <a:avLst>
              <a:gd name="adj" fmla="val 20000"/>
            </a:avLst>
          </a:prstGeom>
          <a:solidFill>
            <a:srgbClr val="FF8A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C1FDFF-D3B8-42F0-A420-2DFF8E1AD84E}"/>
              </a:ext>
            </a:extLst>
          </p:cNvPr>
          <p:cNvSpPr>
            <a:spLocks noGrp="1"/>
          </p:cNvSpPr>
          <p:nvPr/>
        </p:nvSpPr>
        <p:spPr>
          <a:xfrm>
            <a:off x="9361557" y="4610100"/>
            <a:ext cx="990600" cy="666750"/>
          </a:xfrm>
          <a:prstGeom prst="roundRect">
            <a:avLst>
              <a:gd name="adj" fmla="val 20000"/>
            </a:avLst>
          </a:prstGeom>
          <a:solidFill>
            <a:srgbClr val="176B8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3052AC5-E1F8-479A-86BC-EBED3A088EDC}"/>
              </a:ext>
            </a:extLst>
          </p:cNvPr>
          <p:cNvSpPr>
            <a:spLocks noGrp="1"/>
          </p:cNvSpPr>
          <p:nvPr/>
        </p:nvSpPr>
        <p:spPr>
          <a:xfrm>
            <a:off x="10533132" y="4610100"/>
            <a:ext cx="990600" cy="666750"/>
          </a:xfrm>
          <a:prstGeom prst="roundRect">
            <a:avLst>
              <a:gd name="adj" fmla="val 20000"/>
            </a:avLst>
          </a:prstGeom>
          <a:solidFill>
            <a:srgbClr val="2E8B7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3EEAEF-676C-4774-AFD2-A1F7CB04D09A}"/>
              </a:ext>
            </a:extLst>
          </p:cNvPr>
          <p:cNvSpPr>
            <a:spLocks noGrp="1"/>
          </p:cNvSpPr>
          <p:nvPr/>
        </p:nvSpPr>
        <p:spPr>
          <a:xfrm>
            <a:off x="8189982" y="4819650"/>
            <a:ext cx="990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CODEX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539913-1C30-431F-88B6-435402B86B37}"/>
              </a:ext>
            </a:extLst>
          </p:cNvPr>
          <p:cNvSpPr>
            <a:spLocks noGrp="1"/>
          </p:cNvSpPr>
          <p:nvPr/>
        </p:nvSpPr>
        <p:spPr>
          <a:xfrm>
            <a:off x="9361557" y="4819650"/>
            <a:ext cx="990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CLAUDE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1C5239-C66F-4177-B607-A7D42381D524}"/>
              </a:ext>
            </a:extLst>
          </p:cNvPr>
          <p:cNvSpPr>
            <a:spLocks noGrp="1"/>
          </p:cNvSpPr>
          <p:nvPr/>
        </p:nvSpPr>
        <p:spPr>
          <a:xfrm>
            <a:off x="10533132" y="4819650"/>
            <a:ext cx="990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COPILOT</a:t>
            </a:r>
          </a:p>
        </p:txBody>
      </p:sp>
      <p:cxnSp>
        <p:nvCxnSpPr>
          <p:cNvPr id="37" name="Straight Arrow Connector 36"/>
          <p:cNvCxnSpPr>
            <a:stCxn id="7" idx="2"/>
            <a:endCxn id="9" idx="0"/>
          </p:cNvCxnSpPr>
          <p:nvPr/>
        </p:nvCxnSpPr>
        <p:spPr>
          <a:xfrm>
            <a:off x="9858375" y="2000250"/>
            <a:ext cx="0" cy="800100"/>
          </a:xfrm>
          <a:prstGeom prst="straightConnector1">
            <a:avLst/>
          </a:prstGeom>
          <a:ln w="28575">
            <a:solidFill>
              <a:srgbClr val="BDEBE7"/>
            </a:solidFill>
            <a:headEnd type="triangle" w="sm" len="sm"/>
          </a:ln>
        </p:spPr>
      </p:cxnSp>
      <p:cxnSp>
        <p:nvCxnSpPr>
          <p:cNvPr id="38" name="Connector: Elbow 37"/>
          <p:cNvCxnSpPr>
            <a:stCxn id="9" idx="2"/>
            <a:endCxn id="11" idx="0"/>
          </p:cNvCxnSpPr>
          <p:nvPr/>
        </p:nvCxnSpPr>
        <p:spPr>
          <a:xfrm rot="5400000">
            <a:off x="8719379" y="3471104"/>
            <a:ext cx="1104900" cy="1173093"/>
          </a:xfrm>
          <a:prstGeom prst="bentConnector3">
            <a:avLst>
              <a:gd name="adj1" fmla="val 50000"/>
            </a:avLst>
          </a:prstGeom>
          <a:ln w="19050">
            <a:solidFill>
              <a:srgbClr val="BDEBE7"/>
            </a:solidFill>
            <a:headEnd type="triangle" w="sm" len="sm"/>
          </a:ln>
        </p:spPr>
      </p:cxnSp>
      <p:cxnSp>
        <p:nvCxnSpPr>
          <p:cNvPr id="39" name="Connector: Elbow 38"/>
          <p:cNvCxnSpPr>
            <a:stCxn id="9" idx="2"/>
            <a:endCxn id="12" idx="0"/>
          </p:cNvCxnSpPr>
          <p:nvPr/>
        </p:nvCxnSpPr>
        <p:spPr>
          <a:xfrm rot="5400000">
            <a:off x="9305166" y="4056891"/>
            <a:ext cx="1104900" cy="1518"/>
          </a:xfrm>
          <a:prstGeom prst="bentConnector3">
            <a:avLst>
              <a:gd name="adj1" fmla="val 50000"/>
            </a:avLst>
          </a:prstGeom>
          <a:ln w="19050">
            <a:solidFill>
              <a:srgbClr val="BDEBE7"/>
            </a:solidFill>
            <a:headEnd type="triangle" w="sm" len="sm"/>
          </a:ln>
        </p:spPr>
      </p:cxnSp>
      <p:cxnSp>
        <p:nvCxnSpPr>
          <p:cNvPr id="40" name="Connector: Elbow 39"/>
          <p:cNvCxnSpPr>
            <a:stCxn id="9" idx="2"/>
            <a:endCxn id="13" idx="0"/>
          </p:cNvCxnSpPr>
          <p:nvPr/>
        </p:nvCxnSpPr>
        <p:spPr>
          <a:xfrm rot="16200000" flipH="1">
            <a:off x="9890953" y="3472621"/>
            <a:ext cx="1104900" cy="1170057"/>
          </a:xfrm>
          <a:prstGeom prst="bentConnector3">
            <a:avLst>
              <a:gd name="adj1" fmla="val 50000"/>
            </a:avLst>
          </a:prstGeom>
          <a:ln w="19050">
            <a:solidFill>
              <a:srgbClr val="BDEBE7"/>
            </a:solidFill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4752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9E5F1B36-EEAA-406C-98DD-AFE962D69B95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The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onfiguration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1BD6D8-5FD4-45C5-8947-5FF515383566}"/>
              </a:ext>
            </a:extLst>
          </p:cNvPr>
          <p:cNvSpPr>
            <a:spLocks noGrp="1"/>
          </p:cNvSpPr>
          <p:nvPr/>
        </p:nvSpPr>
        <p:spPr>
          <a:xfrm>
            <a:off x="666750" y="914399"/>
            <a:ext cx="9906000" cy="51434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</a:t>
            </a:r>
            <a:r>
              <a:rPr lang="en-US" sz="1350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rying to provide coding agents with a consistent working context across multiple repositories, agents and instruction level is complex. </a:t>
            </a:r>
          </a:p>
          <a:p>
            <a:pPr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1350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 rule must remain intact in all scenarios while allowing scoped overrides.</a:t>
            </a:r>
            <a:endParaRPr sz="1350" b="0" dirty="0">
              <a:solidFill>
                <a:srgbClr val="627D98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98BBC9-51BD-45D5-98DC-EFBBBD3170E0}"/>
              </a:ext>
            </a:extLst>
          </p:cNvPr>
          <p:cNvSpPr>
            <a:spLocks noGrp="1"/>
          </p:cNvSpPr>
          <p:nvPr/>
        </p:nvSpPr>
        <p:spPr>
          <a:xfrm>
            <a:off x="647699" y="1452560"/>
            <a:ext cx="9563099" cy="45719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EB3B6-D61A-41F6-A5FF-68BF40F76DD8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6B87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76B87"/>
                </a:solidFill>
                <a:latin typeface="Nimbus Sans"/>
                <a:ea typeface="Nimbus Sans"/>
                <a:cs typeface="Nimbus Sans"/>
              </a:rPr>
              <a:t>INSTRUCTION HIERARCHY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47C9EC-A27E-4D84-AA25-15814F4080D3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3048000" cy="552450"/>
          </a:xfrm>
          <a:prstGeom prst="roundRect">
            <a:avLst>
              <a:gd name="adj" fmla="val 15517"/>
            </a:avLst>
          </a:prstGeom>
          <a:solidFill>
            <a:srgbClr val="EAF4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58FF75-113F-4A6E-A5DE-3319C2F4B8BD}"/>
              </a:ext>
            </a:extLst>
          </p:cNvPr>
          <p:cNvSpPr>
            <a:spLocks noGrp="1"/>
          </p:cNvSpPr>
          <p:nvPr/>
        </p:nvSpPr>
        <p:spPr>
          <a:xfrm>
            <a:off x="962025" y="2257425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76B87"/>
                </a:solidFill>
                <a:latin typeface="Nimbus Sans"/>
                <a:ea typeface="Nimbus Sans"/>
                <a:cs typeface="Nimbus Sans"/>
              </a:rPr>
              <a:t>Organization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262145-040B-4C26-8C51-3CE9EB0C264D}"/>
              </a:ext>
            </a:extLst>
          </p:cNvPr>
          <p:cNvSpPr>
            <a:spLocks noGrp="1"/>
          </p:cNvSpPr>
          <p:nvPr/>
        </p:nvSpPr>
        <p:spPr>
          <a:xfrm>
            <a:off x="2152650" y="2247900"/>
            <a:ext cx="15811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Stable standards shared everywhere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0E1657-AE87-4BA1-83BC-C049139396DE}"/>
              </a:ext>
            </a:extLst>
          </p:cNvPr>
          <p:cNvSpPr>
            <a:spLocks noGrp="1"/>
          </p:cNvSpPr>
          <p:nvPr/>
        </p:nvSpPr>
        <p:spPr>
          <a:xfrm>
            <a:off x="895350" y="2933700"/>
            <a:ext cx="2952750" cy="552450"/>
          </a:xfrm>
          <a:prstGeom prst="roundRect">
            <a:avLst>
              <a:gd name="adj" fmla="val 15517"/>
            </a:avLst>
          </a:prstGeom>
          <a:solidFill>
            <a:srgbClr val="EAF4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9BE72B-8F7E-4344-8198-3696AB8B7AE5}"/>
              </a:ext>
            </a:extLst>
          </p:cNvPr>
          <p:cNvSpPr>
            <a:spLocks noGrp="1"/>
          </p:cNvSpPr>
          <p:nvPr/>
        </p:nvSpPr>
        <p:spPr>
          <a:xfrm>
            <a:off x="1057275" y="3038475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76B87"/>
                </a:solidFill>
                <a:latin typeface="Nimbus Sans"/>
                <a:ea typeface="Nimbus Sans"/>
                <a:cs typeface="Nimbus Sans"/>
              </a:rPr>
              <a:t>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4D734-221C-413B-8E0E-53A4EE433D40}"/>
              </a:ext>
            </a:extLst>
          </p:cNvPr>
          <p:cNvSpPr>
            <a:spLocks noGrp="1"/>
          </p:cNvSpPr>
          <p:nvPr/>
        </p:nvSpPr>
        <p:spPr>
          <a:xfrm>
            <a:off x="2247900" y="3028950"/>
            <a:ext cx="14859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Architecture, commands, constraints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D17FF0-DED3-4D91-82C1-357A35097065}"/>
              </a:ext>
            </a:extLst>
          </p:cNvPr>
          <p:cNvSpPr>
            <a:spLocks noGrp="1"/>
          </p:cNvSpPr>
          <p:nvPr/>
        </p:nvSpPr>
        <p:spPr>
          <a:xfrm>
            <a:off x="990600" y="3714750"/>
            <a:ext cx="2857500" cy="552450"/>
          </a:xfrm>
          <a:prstGeom prst="roundRect">
            <a:avLst>
              <a:gd name="adj" fmla="val 15517"/>
            </a:avLst>
          </a:prstGeom>
          <a:solidFill>
            <a:srgbClr val="EAF4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D88A05-55F5-4F78-8435-09B1504728C5}"/>
              </a:ext>
            </a:extLst>
          </p:cNvPr>
          <p:cNvSpPr>
            <a:spLocks noGrp="1"/>
          </p:cNvSpPr>
          <p:nvPr/>
        </p:nvSpPr>
        <p:spPr>
          <a:xfrm>
            <a:off x="1152525" y="3819525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6B87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76B87"/>
                </a:solidFill>
                <a:latin typeface="Nimbus Sans"/>
                <a:ea typeface="Nimbus Sans"/>
                <a:cs typeface="Nimbus Sans"/>
              </a:rPr>
              <a:t>Path or 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E1549F-5B12-43A6-88E7-30675387704D}"/>
              </a:ext>
            </a:extLst>
          </p:cNvPr>
          <p:cNvSpPr>
            <a:spLocks noGrp="1"/>
          </p:cNvSpPr>
          <p:nvPr/>
        </p:nvSpPr>
        <p:spPr>
          <a:xfrm>
            <a:off x="2343150" y="3810000"/>
            <a:ext cx="13906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Technology and workflow guidance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D8F2A44-5454-45E7-982B-EAB3EF64B3EA}"/>
              </a:ext>
            </a:extLst>
          </p:cNvPr>
          <p:cNvSpPr>
            <a:spLocks noGrp="1"/>
          </p:cNvSpPr>
          <p:nvPr/>
        </p:nvSpPr>
        <p:spPr>
          <a:xfrm>
            <a:off x="1085850" y="4495800"/>
            <a:ext cx="2762250" cy="552450"/>
          </a:xfrm>
          <a:prstGeom prst="roundRect">
            <a:avLst>
              <a:gd name="adj" fmla="val 15517"/>
            </a:avLst>
          </a:prstGeom>
          <a:solidFill>
            <a:srgbClr val="FFE0D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8C8D85-4219-43B9-9D01-EAB8AC587CD1}"/>
              </a:ext>
            </a:extLst>
          </p:cNvPr>
          <p:cNvSpPr>
            <a:spLocks noGrp="1"/>
          </p:cNvSpPr>
          <p:nvPr/>
        </p:nvSpPr>
        <p:spPr>
          <a:xfrm>
            <a:off x="1247775" y="4600575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User 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E83E0A-9053-4091-8DE6-744EA97443F4}"/>
              </a:ext>
            </a:extLst>
          </p:cNvPr>
          <p:cNvSpPr>
            <a:spLocks noGrp="1"/>
          </p:cNvSpPr>
          <p:nvPr/>
        </p:nvSpPr>
        <p:spPr>
          <a:xfrm>
            <a:off x="2438400" y="4591050"/>
            <a:ext cx="12954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Current intent and exceptions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13D45252-0293-4E1F-99A9-CCB2D58094DB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0" cy="384810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C6620-A1DA-4DD9-8490-8984F84A427D}"/>
              </a:ext>
            </a:extLst>
          </p:cNvPr>
          <p:cNvSpPr>
            <a:spLocks noGrp="1"/>
          </p:cNvSpPr>
          <p:nvPr/>
        </p:nvSpPr>
        <p:spPr>
          <a:xfrm>
            <a:off x="4762500" y="171450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6B87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76B87"/>
                </a:solidFill>
                <a:latin typeface="Nimbus Sans"/>
                <a:ea typeface="Nimbus Sans"/>
                <a:cs typeface="Nimbus Sans"/>
              </a:rPr>
              <a:t>REPOSITORY SCALE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D0AA2A-2481-4D3D-8B42-A81DB70A6561}"/>
              </a:ext>
            </a:extLst>
          </p:cNvPr>
          <p:cNvSpPr>
            <a:spLocks noGrp="1"/>
          </p:cNvSpPr>
          <p:nvPr/>
        </p:nvSpPr>
        <p:spPr>
          <a:xfrm>
            <a:off x="4762500" y="2171700"/>
            <a:ext cx="2428875" cy="495300"/>
          </a:xfrm>
          <a:prstGeom prst="roundRect">
            <a:avLst>
              <a:gd name="adj" fmla="val 15385"/>
            </a:avLst>
          </a:prstGeom>
          <a:solidFill>
            <a:srgbClr val="EAF4F6"/>
          </a:solidFill>
          <a:ln w="9525">
            <a:solidFill>
              <a:srgbClr val="CCD9E2"/>
            </a:solidFill>
            <a:prstDash val="solid"/>
          </a:ln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B2222A-3313-4586-B952-99054B7B2774}"/>
              </a:ext>
            </a:extLst>
          </p:cNvPr>
          <p:cNvSpPr>
            <a:spLocks noGrp="1"/>
          </p:cNvSpPr>
          <p:nvPr/>
        </p:nvSpPr>
        <p:spPr>
          <a:xfrm>
            <a:off x="4953000" y="23241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Web </a:t>
            </a:r>
            <a:r>
              <a:rPr lang="en-US" sz="1275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</a:t>
            </a:r>
            <a:r>
              <a:rPr sz="1275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pp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6386948-2CD8-43D0-B139-415065AE2760}"/>
              </a:ext>
            </a:extLst>
          </p:cNvPr>
          <p:cNvSpPr>
            <a:spLocks noGrp="1"/>
          </p:cNvSpPr>
          <p:nvPr/>
        </p:nvSpPr>
        <p:spPr>
          <a:xfrm>
            <a:off x="4762500" y="2895600"/>
            <a:ext cx="242887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CD9E2"/>
            </a:solidFill>
            <a:prstDash val="solid"/>
          </a:ln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B80F8B-A595-4C22-BE45-AE961F528ABA}"/>
              </a:ext>
            </a:extLst>
          </p:cNvPr>
          <p:cNvSpPr>
            <a:spLocks noGrp="1"/>
          </p:cNvSpPr>
          <p:nvPr/>
        </p:nvSpPr>
        <p:spPr>
          <a:xfrm>
            <a:off x="4953000" y="30480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Service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B31245-E259-4C85-9306-600D8146477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2428875" cy="495300"/>
          </a:xfrm>
          <a:prstGeom prst="roundRect">
            <a:avLst>
              <a:gd name="adj" fmla="val 15385"/>
            </a:avLst>
          </a:prstGeom>
          <a:solidFill>
            <a:srgbClr val="EAF4F6"/>
          </a:solidFill>
          <a:ln w="9525">
            <a:solidFill>
              <a:srgbClr val="CCD9E2"/>
            </a:solidFill>
            <a:prstDash val="solid"/>
          </a:ln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2DF8C3-58A3-4ECE-9A9D-3717CD6B9F05}"/>
              </a:ext>
            </a:extLst>
          </p:cNvPr>
          <p:cNvSpPr>
            <a:spLocks noGrp="1"/>
          </p:cNvSpPr>
          <p:nvPr/>
        </p:nvSpPr>
        <p:spPr>
          <a:xfrm>
            <a:off x="4953000" y="37719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Firmware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A59C3C-535B-4C4E-B35A-FCCF5A31337E}"/>
              </a:ext>
            </a:extLst>
          </p:cNvPr>
          <p:cNvSpPr>
            <a:spLocks noGrp="1"/>
          </p:cNvSpPr>
          <p:nvPr/>
        </p:nvSpPr>
        <p:spPr>
          <a:xfrm>
            <a:off x="4762500" y="4343400"/>
            <a:ext cx="242887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CD9E2"/>
            </a:solidFill>
            <a:prstDash val="solid"/>
          </a:ln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2853DD-C3EF-463C-97E9-8B24B59D8773}"/>
              </a:ext>
            </a:extLst>
          </p:cNvPr>
          <p:cNvSpPr>
            <a:spLocks noGrp="1"/>
          </p:cNvSpPr>
          <p:nvPr/>
        </p:nvSpPr>
        <p:spPr>
          <a:xfrm>
            <a:off x="4953000" y="44958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PCB </a:t>
            </a:r>
            <a:r>
              <a:rPr lang="en-US" sz="1275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D</a:t>
            </a:r>
            <a:r>
              <a:rPr sz="1275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esign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5B1FBF5E-F519-4BB3-8A24-1FB5EB39A710}"/>
              </a:ext>
            </a:extLst>
          </p:cNvPr>
          <p:cNvSpPr>
            <a:spLocks noGrp="1"/>
          </p:cNvSpPr>
          <p:nvPr/>
        </p:nvSpPr>
        <p:spPr>
          <a:xfrm>
            <a:off x="7581900" y="1638300"/>
            <a:ext cx="0" cy="384810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22736B-5DB9-443E-A90B-7939311B4CF1}"/>
              </a:ext>
            </a:extLst>
          </p:cNvPr>
          <p:cNvSpPr>
            <a:spLocks noGrp="1"/>
          </p:cNvSpPr>
          <p:nvPr/>
        </p:nvSpPr>
        <p:spPr>
          <a:xfrm>
            <a:off x="8048625" y="17145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6B87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76B87"/>
                </a:solidFill>
                <a:latin typeface="Nimbus Sans"/>
                <a:ea typeface="Nimbus Sans"/>
                <a:cs typeface="Nimbus Sans"/>
              </a:rPr>
              <a:t>AGENT PLATFORMS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6CEE1F0-C7EB-4162-AA57-D8525FF022A5}"/>
              </a:ext>
            </a:extLst>
          </p:cNvPr>
          <p:cNvSpPr>
            <a:spLocks noGrp="1"/>
          </p:cNvSpPr>
          <p:nvPr/>
        </p:nvSpPr>
        <p:spPr>
          <a:xfrm>
            <a:off x="8067675" y="2209800"/>
            <a:ext cx="457200" cy="457200"/>
          </a:xfrm>
          <a:prstGeom prst="ellipse">
            <a:avLst/>
          </a:prstGeom>
          <a:solidFill>
            <a:srgbClr val="FF8A5B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B5B3B2-BC97-401B-BB38-80BF03FB3D24}"/>
              </a:ext>
            </a:extLst>
          </p:cNvPr>
          <p:cNvSpPr>
            <a:spLocks noGrp="1"/>
          </p:cNvSpPr>
          <p:nvPr/>
        </p:nvSpPr>
        <p:spPr>
          <a:xfrm>
            <a:off x="8686800" y="2190750"/>
            <a:ext cx="1524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Codex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A73921-DAE0-440A-94C7-D06F334FD79B}"/>
              </a:ext>
            </a:extLst>
          </p:cNvPr>
          <p:cNvSpPr>
            <a:spLocks noGrp="1"/>
          </p:cNvSpPr>
          <p:nvPr/>
        </p:nvSpPr>
        <p:spPr>
          <a:xfrm>
            <a:off x="8686800" y="246697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Mono PS"/>
                <a:ea typeface="Nimbus Mono PS"/>
                <a:cs typeface="Nimbus Mono PS"/>
              </a:defRPr>
            </a:pPr>
            <a:r>
              <a:rPr sz="1125" b="0">
                <a:solidFill>
                  <a:srgbClr val="627D98"/>
                </a:solidFill>
                <a:latin typeface="Nimbus Mono PS"/>
                <a:ea typeface="Nimbus Mono PS"/>
                <a:cs typeface="Nimbus Mono PS"/>
              </a:rPr>
              <a:t>AGENTS.md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CC39765-FE91-4661-9068-68B32D8F3E72}"/>
              </a:ext>
            </a:extLst>
          </p:cNvPr>
          <p:cNvSpPr>
            <a:spLocks noGrp="1"/>
          </p:cNvSpPr>
          <p:nvPr/>
        </p:nvSpPr>
        <p:spPr>
          <a:xfrm>
            <a:off x="8067675" y="3086100"/>
            <a:ext cx="457200" cy="457200"/>
          </a:xfrm>
          <a:prstGeom prst="ellipse">
            <a:avLst/>
          </a:prstGeom>
          <a:solidFill>
            <a:srgbClr val="2E8B74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D7FF1C-285D-44FC-AD4A-CAE1D6CBE51E}"/>
              </a:ext>
            </a:extLst>
          </p:cNvPr>
          <p:cNvSpPr>
            <a:spLocks noGrp="1"/>
          </p:cNvSpPr>
          <p:nvPr/>
        </p:nvSpPr>
        <p:spPr>
          <a:xfrm>
            <a:off x="8686800" y="3067050"/>
            <a:ext cx="1524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Claude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FA0210-9D61-4F00-A750-649E12A3F443}"/>
              </a:ext>
            </a:extLst>
          </p:cNvPr>
          <p:cNvSpPr>
            <a:spLocks noGrp="1"/>
          </p:cNvSpPr>
          <p:nvPr/>
        </p:nvSpPr>
        <p:spPr>
          <a:xfrm>
            <a:off x="8686800" y="334327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Mono PS"/>
                <a:ea typeface="Nimbus Mono PS"/>
                <a:cs typeface="Nimbus Mono PS"/>
              </a:defRPr>
            </a:pPr>
            <a:r>
              <a:rPr sz="1125" b="0">
                <a:solidFill>
                  <a:srgbClr val="627D98"/>
                </a:solidFill>
                <a:latin typeface="Nimbus Mono PS"/>
                <a:ea typeface="Nimbus Mono PS"/>
                <a:cs typeface="Nimbus Mono PS"/>
              </a:rPr>
              <a:t>CLAUDE.md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F9267EE-619B-4CFE-A630-31CA588A67DB}"/>
              </a:ext>
            </a:extLst>
          </p:cNvPr>
          <p:cNvSpPr>
            <a:spLocks noGrp="1"/>
          </p:cNvSpPr>
          <p:nvPr/>
        </p:nvSpPr>
        <p:spPr>
          <a:xfrm>
            <a:off x="8067675" y="3962400"/>
            <a:ext cx="457200" cy="457200"/>
          </a:xfrm>
          <a:prstGeom prst="ellipse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62E66D-1BAC-447E-9140-33B8CD0F16D0}"/>
              </a:ext>
            </a:extLst>
          </p:cNvPr>
          <p:cNvSpPr>
            <a:spLocks noGrp="1"/>
          </p:cNvSpPr>
          <p:nvPr/>
        </p:nvSpPr>
        <p:spPr>
          <a:xfrm>
            <a:off x="8686800" y="3943350"/>
            <a:ext cx="1524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Copilot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6F813C-2BC8-47AD-8D6D-C9AC68BB69C3}"/>
              </a:ext>
            </a:extLst>
          </p:cNvPr>
          <p:cNvSpPr>
            <a:spLocks noGrp="1"/>
          </p:cNvSpPr>
          <p:nvPr/>
        </p:nvSpPr>
        <p:spPr>
          <a:xfrm>
            <a:off x="8686800" y="421957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Mono PS"/>
                <a:ea typeface="Nimbus Mono PS"/>
                <a:cs typeface="Nimbus Mono PS"/>
              </a:defRPr>
            </a:pPr>
            <a:r>
              <a:rPr sz="1125" b="0">
                <a:solidFill>
                  <a:srgbClr val="627D98"/>
                </a:solidFill>
                <a:latin typeface="Nimbus Mono PS"/>
                <a:ea typeface="Nimbus Mono PS"/>
                <a:cs typeface="Nimbus Mono PS"/>
              </a:rPr>
              <a:t>.github/*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48F73C91-781E-466D-9483-F27D6811874A}"/>
              </a:ext>
            </a:extLst>
          </p:cNvPr>
          <p:cNvSpPr>
            <a:spLocks noGrp="1"/>
          </p:cNvSpPr>
          <p:nvPr/>
        </p:nvSpPr>
        <p:spPr>
          <a:xfrm>
            <a:off x="647700" y="6457950"/>
            <a:ext cx="108966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3F86BE-9BE5-46D0-9495-14C392F2935D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Overview of Agentic Development Tooling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1F6C175-E23D-4969-8E3B-96942D2D768B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723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CB3032F-934C-4BFB-A3B7-33787F68DA46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Hierarchical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onfiguration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 Pattern</a:t>
            </a:r>
            <a:endParaRPr sz="2550" b="1" dirty="0">
              <a:solidFill>
                <a:srgbClr val="102A43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0CC11-2243-48EF-839C-4BA7308E674C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Each narrower layer adds context without replacing the shared foundation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5DA9F6-CC17-482E-896D-D407E75B8939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10439400" cy="628650"/>
          </a:xfrm>
          <a:prstGeom prst="roundRect">
            <a:avLst>
              <a:gd name="adj" fmla="val 15152"/>
            </a:avLst>
          </a:prstGeom>
          <a:solidFill>
            <a:srgbClr val="071B2E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8671A8-BA6E-40E5-AE5F-6D3B93A5A67A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F892C-DACE-420B-8909-A163D4B725E8}"/>
              </a:ext>
            </a:extLst>
          </p:cNvPr>
          <p:cNvSpPr>
            <a:spLocks noGrp="1"/>
          </p:cNvSpPr>
          <p:nvPr/>
        </p:nvSpPr>
        <p:spPr>
          <a:xfrm>
            <a:off x="1543050" y="197167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Shared engineering standards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9B1FE-DFC1-4F37-A700-4A48D5CA6FC7}"/>
              </a:ext>
            </a:extLst>
          </p:cNvPr>
          <p:cNvSpPr>
            <a:spLocks noGrp="1"/>
          </p:cNvSpPr>
          <p:nvPr/>
        </p:nvSpPr>
        <p:spPr>
          <a:xfrm>
            <a:off x="1543050" y="2219325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Organization policy and technology conventions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E4344D-1F00-4F77-8E8E-2B2F6AE5754C}"/>
              </a:ext>
            </a:extLst>
          </p:cNvPr>
          <p:cNvSpPr>
            <a:spLocks noGrp="1"/>
          </p:cNvSpPr>
          <p:nvPr/>
        </p:nvSpPr>
        <p:spPr>
          <a:xfrm>
            <a:off x="2305050" y="2686050"/>
            <a:ext cx="9010650" cy="628650"/>
          </a:xfrm>
          <a:prstGeom prst="roundRect">
            <a:avLst>
              <a:gd name="adj" fmla="val 15152"/>
            </a:avLst>
          </a:prstGeom>
          <a:solidFill>
            <a:srgbClr val="176B87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BB6E86-F4A8-4F3F-B195-DE3EB6ED7883}"/>
              </a:ext>
            </a:extLst>
          </p:cNvPr>
          <p:cNvSpPr>
            <a:spLocks noGrp="1"/>
          </p:cNvSpPr>
          <p:nvPr/>
        </p:nvSpPr>
        <p:spPr>
          <a:xfrm>
            <a:off x="2476500" y="28765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62BB22-9A94-4B82-9DFB-2BCD05B8FF32}"/>
              </a:ext>
            </a:extLst>
          </p:cNvPr>
          <p:cNvSpPr>
            <a:spLocks noGrp="1"/>
          </p:cNvSpPr>
          <p:nvPr/>
        </p:nvSpPr>
        <p:spPr>
          <a:xfrm>
            <a:off x="2971800" y="279082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Repository-specific rules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5F808D-BAD4-473E-8DB5-6942B60AB707}"/>
              </a:ext>
            </a:extLst>
          </p:cNvPr>
          <p:cNvSpPr>
            <a:spLocks noGrp="1"/>
          </p:cNvSpPr>
          <p:nvPr/>
        </p:nvSpPr>
        <p:spPr>
          <a:xfrm>
            <a:off x="2971800" y="3038475"/>
            <a:ext cx="809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Architecture, build, validation, deployment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D3BDC1-B7DD-4615-965A-A328C794237C}"/>
              </a:ext>
            </a:extLst>
          </p:cNvPr>
          <p:cNvSpPr>
            <a:spLocks noGrp="1"/>
          </p:cNvSpPr>
          <p:nvPr/>
        </p:nvSpPr>
        <p:spPr>
          <a:xfrm>
            <a:off x="3905250" y="3505200"/>
            <a:ext cx="7410450" cy="628650"/>
          </a:xfrm>
          <a:prstGeom prst="roundRect">
            <a:avLst>
              <a:gd name="adj" fmla="val 15152"/>
            </a:avLst>
          </a:prstGeom>
          <a:solidFill>
            <a:srgbClr val="64CCC5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DC2092-634E-4B78-B55D-D0EE310A8F9A}"/>
              </a:ext>
            </a:extLst>
          </p:cNvPr>
          <p:cNvSpPr>
            <a:spLocks noGrp="1"/>
          </p:cNvSpPr>
          <p:nvPr/>
        </p:nvSpPr>
        <p:spPr>
          <a:xfrm>
            <a:off x="4076700" y="369570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71B2E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071B2E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1D5CDC-5D5F-4633-A325-D717E3D559B2}"/>
              </a:ext>
            </a:extLst>
          </p:cNvPr>
          <p:cNvSpPr>
            <a:spLocks noGrp="1"/>
          </p:cNvSpPr>
          <p:nvPr/>
        </p:nvSpPr>
        <p:spPr>
          <a:xfrm>
            <a:off x="4572000" y="360997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071B2E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071B2E"/>
                </a:solidFill>
                <a:latin typeface="Nimbus Sans"/>
                <a:ea typeface="Nimbus Sans"/>
                <a:cs typeface="Nimbus Sans"/>
              </a:rPr>
              <a:t>Path and workflow instructions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CC649C-D7CD-4871-872A-68E7B8516657}"/>
              </a:ext>
            </a:extLst>
          </p:cNvPr>
          <p:cNvSpPr>
            <a:spLocks noGrp="1"/>
          </p:cNvSpPr>
          <p:nvPr/>
        </p:nvSpPr>
        <p:spPr>
          <a:xfrm>
            <a:off x="4572000" y="3857625"/>
            <a:ext cx="64960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0D2D44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0D2D44"/>
                </a:solidFill>
                <a:latin typeface="Nimbus Sans"/>
                <a:ea typeface="Nimbus Sans"/>
                <a:cs typeface="Nimbus Sans"/>
              </a:rPr>
              <a:t>Rules for C#, tests, database, release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71C539-88E7-4CE3-9C31-DF9E35B3791F}"/>
              </a:ext>
            </a:extLst>
          </p:cNvPr>
          <p:cNvSpPr>
            <a:spLocks noGrp="1"/>
          </p:cNvSpPr>
          <p:nvPr/>
        </p:nvSpPr>
        <p:spPr>
          <a:xfrm>
            <a:off x="5676900" y="4324350"/>
            <a:ext cx="5638800" cy="628650"/>
          </a:xfrm>
          <a:prstGeom prst="roundRect">
            <a:avLst>
              <a:gd name="adj" fmla="val 15152"/>
            </a:avLst>
          </a:prstGeom>
          <a:solidFill>
            <a:srgbClr val="FF8A5B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5907E3-4B83-4729-8047-57EED7026AC6}"/>
              </a:ext>
            </a:extLst>
          </p:cNvPr>
          <p:cNvSpPr>
            <a:spLocks noGrp="1"/>
          </p:cNvSpPr>
          <p:nvPr/>
        </p:nvSpPr>
        <p:spPr>
          <a:xfrm>
            <a:off x="5848350" y="45148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07B692-A656-4D36-9980-14AEC4B97BEE}"/>
              </a:ext>
            </a:extLst>
          </p:cNvPr>
          <p:cNvSpPr>
            <a:spLocks noGrp="1"/>
          </p:cNvSpPr>
          <p:nvPr/>
        </p:nvSpPr>
        <p:spPr>
          <a:xfrm>
            <a:off x="6343650" y="442912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Explicit task request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1FC8DC-1B6D-4A20-B9D6-D23FCAAE66EB}"/>
              </a:ext>
            </a:extLst>
          </p:cNvPr>
          <p:cNvSpPr>
            <a:spLocks noGrp="1"/>
          </p:cNvSpPr>
          <p:nvPr/>
        </p:nvSpPr>
        <p:spPr>
          <a:xfrm>
            <a:off x="6343650" y="4676775"/>
            <a:ext cx="4724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Immediate scope, intent, and authorized exceptions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80DA38-A29F-43EF-9643-9A9CFCE45421}"/>
              </a:ext>
            </a:extLst>
          </p:cNvPr>
          <p:cNvSpPr>
            <a:spLocks noGrp="1"/>
          </p:cNvSpPr>
          <p:nvPr/>
        </p:nvSpPr>
        <p:spPr>
          <a:xfrm>
            <a:off x="8858250" y="53340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125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More specific context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B69714A-0601-42EB-ABFA-A6A691550BCF}"/>
              </a:ext>
            </a:extLst>
          </p:cNvPr>
          <p:cNvSpPr>
            <a:spLocks noGrp="1"/>
          </p:cNvSpPr>
          <p:nvPr/>
        </p:nvSpPr>
        <p:spPr>
          <a:xfrm>
            <a:off x="11049000" y="1790700"/>
            <a:ext cx="0" cy="3333750"/>
          </a:xfrm>
          <a:prstGeom prst="line">
            <a:avLst/>
          </a:prstGeom>
          <a:noFill/>
          <a:ln w="28575">
            <a:solidFill>
              <a:srgbClr val="FF8A5B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84D12928-A57D-4720-93D4-CC1CCE0E67F3}"/>
              </a:ext>
            </a:extLst>
          </p:cNvPr>
          <p:cNvSpPr>
            <a:spLocks noGrp="1"/>
          </p:cNvSpPr>
          <p:nvPr/>
        </p:nvSpPr>
        <p:spPr>
          <a:xfrm>
            <a:off x="647700" y="6457950"/>
            <a:ext cx="108966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E6A96C-E5A2-4C01-BB12-E58AC343EB0B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Overview of Agentic Development Tooling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57A7C2-64F5-458C-830A-8BD7865929BA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0E316F-1689-D1BF-F2E2-26D64F0808DD}"/>
              </a:ext>
            </a:extLst>
          </p:cNvPr>
          <p:cNvSpPr>
            <a:spLocks noGrp="1"/>
          </p:cNvSpPr>
          <p:nvPr/>
        </p:nvSpPr>
        <p:spPr>
          <a:xfrm flipV="1">
            <a:off x="647700" y="1448817"/>
            <a:ext cx="10091636" cy="60896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31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A702DC7-C3B7-4ED1-B003-A1B9484E28D2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Agent 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Platform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 S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pecific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onfiguration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 Pattern</a:t>
            </a:r>
            <a:endParaRPr sz="2550" b="1" dirty="0">
              <a:solidFill>
                <a:srgbClr val="102A43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5410F-B3D5-460A-B64C-D4EF20246AFD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Each agent reads a different entry point and offers different native features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ABB6EA0-592D-49C2-89BE-D8B498D7F211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2857500" cy="0"/>
          </a:xfrm>
          <a:prstGeom prst="line">
            <a:avLst/>
          </a:prstGeom>
          <a:noFill/>
          <a:ln w="57150">
            <a:solidFill>
              <a:srgbClr val="FF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D56F26-63FB-4ACF-8D01-9BB1D271AD07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CODEX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11CBB-DA5F-4E9F-878E-1FB057673BF4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3000375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FF8A5B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75" b="1">
                <a:solidFill>
                  <a:srgbClr val="FF8A5B"/>
                </a:solidFill>
                <a:latin typeface="Nimbus Mono PS"/>
                <a:ea typeface="Nimbus Mono PS"/>
                <a:cs typeface="Nimbus Mono PS"/>
              </a:rPr>
              <a:t>AGENTS.md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A93D3F-AB2E-4C7E-A331-F9AA8B01CDDF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3000375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Portable repository rules</a:t>
            </a:r>
          </a:p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Nested AGENTS.md discovery</a:t>
            </a:r>
          </a:p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Task skills when available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DA67300-B7F7-4321-94D5-4DAAB450C1BD}"/>
              </a:ext>
            </a:extLst>
          </p:cNvPr>
          <p:cNvSpPr>
            <a:spLocks noGrp="1"/>
          </p:cNvSpPr>
          <p:nvPr/>
        </p:nvSpPr>
        <p:spPr>
          <a:xfrm>
            <a:off x="4305300" y="1762125"/>
            <a:ext cx="2857500" cy="0"/>
          </a:xfrm>
          <a:prstGeom prst="line">
            <a:avLst/>
          </a:prstGeom>
          <a:noFill/>
          <a:ln w="57150">
            <a:solidFill>
              <a:srgbClr val="2E8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B51642-45C1-4E2E-A3B0-E6CCC9EF18FB}"/>
              </a:ext>
            </a:extLst>
          </p:cNvPr>
          <p:cNvSpPr>
            <a:spLocks noGrp="1"/>
          </p:cNvSpPr>
          <p:nvPr/>
        </p:nvSpPr>
        <p:spPr>
          <a:xfrm>
            <a:off x="4305300" y="20002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CLAUDE CODE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C14D3D-CACE-4ABC-ACB9-17207E4EA68B}"/>
              </a:ext>
            </a:extLst>
          </p:cNvPr>
          <p:cNvSpPr>
            <a:spLocks noGrp="1"/>
          </p:cNvSpPr>
          <p:nvPr/>
        </p:nvSpPr>
        <p:spPr>
          <a:xfrm>
            <a:off x="4305300" y="2476500"/>
            <a:ext cx="3000375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2E8B74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75" b="1">
                <a:solidFill>
                  <a:srgbClr val="2E8B74"/>
                </a:solidFill>
                <a:latin typeface="Nimbus Mono PS"/>
                <a:ea typeface="Nimbus Mono PS"/>
                <a:cs typeface="Nimbus Mono PS"/>
              </a:rPr>
              <a:t>CLAUDE.md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4DA658-9EAF-47A4-AED7-089B8B646993}"/>
              </a:ext>
            </a:extLst>
          </p:cNvPr>
          <p:cNvSpPr>
            <a:spLocks noGrp="1"/>
          </p:cNvSpPr>
          <p:nvPr/>
        </p:nvSpPr>
        <p:spPr>
          <a:xfrm>
            <a:off x="4305300" y="3181350"/>
            <a:ext cx="3000375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Claude memory and imports</a:t>
            </a:r>
          </a:p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Claude-specific commands</a:t>
            </a:r>
          </a:p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Project context in CLAUDE.md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B26B9F20-5166-4E81-A0F3-50C621931287}"/>
              </a:ext>
            </a:extLst>
          </p:cNvPr>
          <p:cNvSpPr>
            <a:spLocks noGrp="1"/>
          </p:cNvSpPr>
          <p:nvPr/>
        </p:nvSpPr>
        <p:spPr>
          <a:xfrm>
            <a:off x="7829550" y="1762125"/>
            <a:ext cx="2857500" cy="0"/>
          </a:xfrm>
          <a:prstGeom prst="line">
            <a:avLst/>
          </a:prstGeom>
          <a:noFill/>
          <a:ln w="57150">
            <a:solidFill>
              <a:srgbClr val="176B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E9D3C2-AF69-404D-AB90-4D0A2F01B97A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GITHUB COPILOT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19FE83-3C0C-4C70-87D3-4352E971F3EF}"/>
              </a:ext>
            </a:extLst>
          </p:cNvPr>
          <p:cNvSpPr>
            <a:spLocks noGrp="1"/>
          </p:cNvSpPr>
          <p:nvPr/>
        </p:nvSpPr>
        <p:spPr>
          <a:xfrm>
            <a:off x="7829550" y="2476500"/>
            <a:ext cx="3000375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6B8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75" b="1">
                <a:solidFill>
                  <a:srgbClr val="176B87"/>
                </a:solidFill>
                <a:latin typeface="Nimbus Mono PS"/>
                <a:ea typeface="Nimbus Mono PS"/>
                <a:cs typeface="Nimbus Mono PS"/>
              </a:rPr>
              <a:t>.github/copilot-instructions.md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FD42AD-11ED-41DD-A911-A4122BB52514}"/>
              </a:ext>
            </a:extLst>
          </p:cNvPr>
          <p:cNvSpPr>
            <a:spLocks noGrp="1"/>
          </p:cNvSpPr>
          <p:nvPr/>
        </p:nvSpPr>
        <p:spPr>
          <a:xfrm>
            <a:off x="7829550" y="3181350"/>
            <a:ext cx="3000375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Repository instructions</a:t>
            </a:r>
          </a:p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Path-specific applyTo files</a:t>
            </a:r>
          </a:p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Prompts and custom agents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CD8F23B-DF67-45EB-98BB-1688A6E58C59}"/>
              </a:ext>
            </a:extLst>
          </p:cNvPr>
          <p:cNvSpPr>
            <a:spLocks noGrp="1"/>
          </p:cNvSpPr>
          <p:nvPr/>
        </p:nvSpPr>
        <p:spPr>
          <a:xfrm>
            <a:off x="2631057" y="5009971"/>
            <a:ext cx="5761726" cy="886005"/>
          </a:xfrm>
          <a:prstGeom prst="roundRect">
            <a:avLst>
              <a:gd name="adj" fmla="val 16216"/>
            </a:avLst>
          </a:prstGeom>
          <a:solidFill>
            <a:srgbClr val="071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A1BEE9-A8CD-47F2-B9A5-3E83582DEB4C}"/>
              </a:ext>
            </a:extLst>
          </p:cNvPr>
          <p:cNvSpPr>
            <a:spLocks noGrp="1"/>
          </p:cNvSpPr>
          <p:nvPr/>
        </p:nvSpPr>
        <p:spPr>
          <a:xfrm>
            <a:off x="2777706" y="5181422"/>
            <a:ext cx="5357902" cy="61912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Independent rule sets create drift. Thin adapters keep platform behavior while preserving one source of engineering truth.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DB2149D-AF8A-404B-9DA3-C483EA68718B}"/>
              </a:ext>
            </a:extLst>
          </p:cNvPr>
          <p:cNvSpPr>
            <a:spLocks noGrp="1"/>
          </p:cNvSpPr>
          <p:nvPr/>
        </p:nvSpPr>
        <p:spPr>
          <a:xfrm>
            <a:off x="647700" y="6457950"/>
            <a:ext cx="108966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694FCD-31C1-4F39-A916-C75B229ED4C2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Overview of Agentic Development Tooling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F89EA5-4DEA-4163-88F7-CA276DF49A58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2331C1-D89E-E153-E763-8A4ED173A989}"/>
              </a:ext>
            </a:extLst>
          </p:cNvPr>
          <p:cNvSpPr>
            <a:spLocks noGrp="1"/>
          </p:cNvSpPr>
          <p:nvPr/>
        </p:nvSpPr>
        <p:spPr>
          <a:xfrm flipV="1">
            <a:off x="647700" y="1453068"/>
            <a:ext cx="10007330" cy="57150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4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01004F7-955B-45EA-826D-3849455048D9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Design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equirements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64607C-C171-4793-BB2F-51E570B9E14B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Common failure patterns point directly to the architecture we need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D12160-7CED-4BD6-B897-62D933858D9E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FAILURE PATTERN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767AF4-249F-4BED-809C-C2D9D40337E9}"/>
              </a:ext>
            </a:extLst>
          </p:cNvPr>
          <p:cNvSpPr>
            <a:spLocks noGrp="1"/>
          </p:cNvSpPr>
          <p:nvPr/>
        </p:nvSpPr>
        <p:spPr>
          <a:xfrm>
            <a:off x="6572250" y="1695450"/>
            <a:ext cx="3429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rPr>
              <a:t>REQUIRED RESPONSE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273536-7BC1-4457-8D86-54ED4A01CFB1}"/>
              </a:ext>
            </a:extLst>
          </p:cNvPr>
          <p:cNvSpPr>
            <a:spLocks noGrp="1"/>
          </p:cNvSpPr>
          <p:nvPr/>
        </p:nvSpPr>
        <p:spPr>
          <a:xfrm>
            <a:off x="781050" y="2162175"/>
            <a:ext cx="285750" cy="285750"/>
          </a:xfrm>
          <a:prstGeom prst="ellipse">
            <a:avLst/>
          </a:prstGeom>
          <a:solidFill>
            <a:srgbClr val="FFE0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84F439-D338-4A21-8A45-384825BA7082}"/>
              </a:ext>
            </a:extLst>
          </p:cNvPr>
          <p:cNvSpPr>
            <a:spLocks noGrp="1"/>
          </p:cNvSpPr>
          <p:nvPr/>
        </p:nvSpPr>
        <p:spPr>
          <a:xfrm>
            <a:off x="1219200" y="209550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Copy drift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B1BF2F-9A09-4395-91CE-2DCC58B673AC}"/>
              </a:ext>
            </a:extLst>
          </p:cNvPr>
          <p:cNvSpPr>
            <a:spLocks noGrp="1"/>
          </p:cNvSpPr>
          <p:nvPr/>
        </p:nvSpPr>
        <p:spPr>
          <a:xfrm>
            <a:off x="1219200" y="2390775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The same rule changes independently in several agent files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C4B5DFE-954C-45D1-95BA-B9E8A01BEE83}"/>
              </a:ext>
            </a:extLst>
          </p:cNvPr>
          <p:cNvSpPr>
            <a:spLocks noGrp="1"/>
          </p:cNvSpPr>
          <p:nvPr/>
        </p:nvSpPr>
        <p:spPr>
          <a:xfrm>
            <a:off x="5137036" y="2419350"/>
            <a:ext cx="476250" cy="0"/>
          </a:xfrm>
          <a:prstGeom prst="line">
            <a:avLst/>
          </a:prstGeom>
          <a:noFill/>
          <a:ln w="66675">
            <a:solidFill>
              <a:schemeClr val="accent1">
                <a:lumMod val="7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C005198-5105-4E47-89DD-1B31DA0939A0}"/>
              </a:ext>
            </a:extLst>
          </p:cNvPr>
          <p:cNvSpPr>
            <a:spLocks noGrp="1"/>
          </p:cNvSpPr>
          <p:nvPr/>
        </p:nvSpPr>
        <p:spPr>
          <a:xfrm>
            <a:off x="6496050" y="2162175"/>
            <a:ext cx="285750" cy="285750"/>
          </a:xfrm>
          <a:prstGeom prst="ellipse">
            <a:avLst/>
          </a:prstGeom>
          <a:solidFill>
            <a:srgbClr val="BDEBE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12900E-D2A1-4BA0-ABA3-1DE177637885}"/>
              </a:ext>
            </a:extLst>
          </p:cNvPr>
          <p:cNvSpPr>
            <a:spLocks noGrp="1"/>
          </p:cNvSpPr>
          <p:nvPr/>
        </p:nvSpPr>
        <p:spPr>
          <a:xfrm>
            <a:off x="6953250" y="2095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Single authority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8C4033-549A-436E-902D-8F92AA0ECAF5}"/>
              </a:ext>
            </a:extLst>
          </p:cNvPr>
          <p:cNvSpPr>
            <a:spLocks noGrp="1"/>
          </p:cNvSpPr>
          <p:nvPr/>
        </p:nvSpPr>
        <p:spPr>
          <a:xfrm>
            <a:off x="6953250" y="239077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Shared standards hold the engineering rule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215C5AB-1557-49EF-8C47-906793093130}"/>
              </a:ext>
            </a:extLst>
          </p:cNvPr>
          <p:cNvSpPr>
            <a:spLocks noGrp="1"/>
          </p:cNvSpPr>
          <p:nvPr/>
        </p:nvSpPr>
        <p:spPr>
          <a:xfrm>
            <a:off x="781050" y="3057525"/>
            <a:ext cx="285750" cy="285750"/>
          </a:xfrm>
          <a:prstGeom prst="ellipse">
            <a:avLst/>
          </a:prstGeom>
          <a:solidFill>
            <a:srgbClr val="FFE0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1567DC-C4B5-43F9-A63A-52CFAEFDEF0F}"/>
              </a:ext>
            </a:extLst>
          </p:cNvPr>
          <p:cNvSpPr>
            <a:spLocks noGrp="1"/>
          </p:cNvSpPr>
          <p:nvPr/>
        </p:nvSpPr>
        <p:spPr>
          <a:xfrm>
            <a:off x="1219200" y="29908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Remote-only references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DAB1A0-3418-4DED-8FE5-8AAF28F5B090}"/>
              </a:ext>
            </a:extLst>
          </p:cNvPr>
          <p:cNvSpPr>
            <a:spLocks noGrp="1"/>
          </p:cNvSpPr>
          <p:nvPr/>
        </p:nvSpPr>
        <p:spPr>
          <a:xfrm>
            <a:off x="1219200" y="3286125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Agents cannot reliably fetch or interpret linked content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8FCC2AB-CFFB-450D-9CA3-AC54D1CC0EB6}"/>
              </a:ext>
            </a:extLst>
          </p:cNvPr>
          <p:cNvSpPr>
            <a:spLocks noGrp="1"/>
          </p:cNvSpPr>
          <p:nvPr/>
        </p:nvSpPr>
        <p:spPr>
          <a:xfrm>
            <a:off x="5137036" y="3314700"/>
            <a:ext cx="476250" cy="0"/>
          </a:xfrm>
          <a:prstGeom prst="line">
            <a:avLst/>
          </a:prstGeom>
          <a:noFill/>
          <a:ln w="66675">
            <a:solidFill>
              <a:schemeClr val="accent1">
                <a:lumMod val="7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43D011C-3D1A-41EC-B6DB-AE32B5F7D46B}"/>
              </a:ext>
            </a:extLst>
          </p:cNvPr>
          <p:cNvSpPr>
            <a:spLocks noGrp="1"/>
          </p:cNvSpPr>
          <p:nvPr/>
        </p:nvSpPr>
        <p:spPr>
          <a:xfrm>
            <a:off x="6496050" y="3057525"/>
            <a:ext cx="285750" cy="285750"/>
          </a:xfrm>
          <a:prstGeom prst="ellipse">
            <a:avLst/>
          </a:prstGeom>
          <a:solidFill>
            <a:srgbClr val="BDEBE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5DE63B-945F-491B-BEBB-71D8C3069334}"/>
              </a:ext>
            </a:extLst>
          </p:cNvPr>
          <p:cNvSpPr>
            <a:spLocks noGrp="1"/>
          </p:cNvSpPr>
          <p:nvPr/>
        </p:nvSpPr>
        <p:spPr>
          <a:xfrm>
            <a:off x="6953250" y="29908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Local snapshot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20358B-3582-4034-B05A-38E4CBF326BE}"/>
              </a:ext>
            </a:extLst>
          </p:cNvPr>
          <p:cNvSpPr>
            <a:spLocks noGrp="1"/>
          </p:cNvSpPr>
          <p:nvPr/>
        </p:nvSpPr>
        <p:spPr>
          <a:xfrm>
            <a:off x="6953250" y="328612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Required guidance exists inside each workspace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0ED502-A9A8-47C7-A255-D8D5956CFD40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285750" cy="285750"/>
          </a:xfrm>
          <a:prstGeom prst="ellipse">
            <a:avLst/>
          </a:prstGeom>
          <a:solidFill>
            <a:srgbClr val="FFE0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!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B84C0D-58B7-4C8F-9D13-31209EAC092F}"/>
              </a:ext>
            </a:extLst>
          </p:cNvPr>
          <p:cNvSpPr>
            <a:spLocks noGrp="1"/>
          </p:cNvSpPr>
          <p:nvPr/>
        </p:nvSpPr>
        <p:spPr>
          <a:xfrm>
            <a:off x="1219200" y="388620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Conflicting instructions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BA8F67-207F-40DC-BB87-88E674030A3D}"/>
              </a:ext>
            </a:extLst>
          </p:cNvPr>
          <p:cNvSpPr>
            <a:spLocks noGrp="1"/>
          </p:cNvSpPr>
          <p:nvPr/>
        </p:nvSpPr>
        <p:spPr>
          <a:xfrm>
            <a:off x="1219200" y="4181475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No clear rule decides which layer wins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67E297-4FD3-492B-AE55-251C1ABE72A8}"/>
              </a:ext>
            </a:extLst>
          </p:cNvPr>
          <p:cNvSpPr>
            <a:spLocks noGrp="1"/>
          </p:cNvSpPr>
          <p:nvPr/>
        </p:nvSpPr>
        <p:spPr>
          <a:xfrm>
            <a:off x="5137036" y="4210050"/>
            <a:ext cx="476250" cy="0"/>
          </a:xfrm>
          <a:prstGeom prst="line">
            <a:avLst/>
          </a:prstGeom>
          <a:noFill/>
          <a:ln w="66675">
            <a:solidFill>
              <a:schemeClr val="accent1">
                <a:lumMod val="7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725F038-1AA5-4828-AFE6-DBD428FF0730}"/>
              </a:ext>
            </a:extLst>
          </p:cNvPr>
          <p:cNvSpPr>
            <a:spLocks noGrp="1"/>
          </p:cNvSpPr>
          <p:nvPr/>
        </p:nvSpPr>
        <p:spPr>
          <a:xfrm>
            <a:off x="6496050" y="3952875"/>
            <a:ext cx="285750" cy="285750"/>
          </a:xfrm>
          <a:prstGeom prst="ellipse">
            <a:avLst/>
          </a:prstGeom>
          <a:solidFill>
            <a:srgbClr val="BDEBE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EEDFA3-9433-47C8-8499-DD0ABC91BDCC}"/>
              </a:ext>
            </a:extLst>
          </p:cNvPr>
          <p:cNvSpPr>
            <a:spLocks noGrp="1"/>
          </p:cNvSpPr>
          <p:nvPr/>
        </p:nvSpPr>
        <p:spPr>
          <a:xfrm>
            <a:off x="6953250" y="38862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Explicit precedence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966FD1-2AC8-464D-849A-390C33C1F07F}"/>
              </a:ext>
            </a:extLst>
          </p:cNvPr>
          <p:cNvSpPr>
            <a:spLocks noGrp="1"/>
          </p:cNvSpPr>
          <p:nvPr/>
        </p:nvSpPr>
        <p:spPr>
          <a:xfrm>
            <a:off x="6953250" y="418147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The repository documents conflict resolution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021DF0-44D1-44DC-9788-629EABDFF332}"/>
              </a:ext>
            </a:extLst>
          </p:cNvPr>
          <p:cNvSpPr>
            <a:spLocks noGrp="1"/>
          </p:cNvSpPr>
          <p:nvPr/>
        </p:nvSpPr>
        <p:spPr>
          <a:xfrm>
            <a:off x="781050" y="4848225"/>
            <a:ext cx="285750" cy="285750"/>
          </a:xfrm>
          <a:prstGeom prst="ellipse">
            <a:avLst/>
          </a:prstGeom>
          <a:solidFill>
            <a:srgbClr val="FFE0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!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D81AFC-6E01-476D-9E7B-AA2FAA7F4663}"/>
              </a:ext>
            </a:extLst>
          </p:cNvPr>
          <p:cNvSpPr>
            <a:spLocks noGrp="1"/>
          </p:cNvSpPr>
          <p:nvPr/>
        </p:nvSpPr>
        <p:spPr>
          <a:xfrm>
            <a:off x="1219200" y="47815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Large instruction manuals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F736EE-7D7E-4EE1-87C0-9F25ED4797CF}"/>
              </a:ext>
            </a:extLst>
          </p:cNvPr>
          <p:cNvSpPr>
            <a:spLocks noGrp="1"/>
          </p:cNvSpPr>
          <p:nvPr/>
        </p:nvSpPr>
        <p:spPr>
          <a:xfrm>
            <a:off x="1219200" y="5076825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Always-on context becomes noisy and expensive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C571CE01-F9A6-46C4-ACAC-BFA902E86F35}"/>
              </a:ext>
            </a:extLst>
          </p:cNvPr>
          <p:cNvSpPr>
            <a:spLocks noGrp="1"/>
          </p:cNvSpPr>
          <p:nvPr/>
        </p:nvSpPr>
        <p:spPr>
          <a:xfrm>
            <a:off x="5137036" y="5105400"/>
            <a:ext cx="476250" cy="0"/>
          </a:xfrm>
          <a:prstGeom prst="line">
            <a:avLst/>
          </a:prstGeom>
          <a:noFill/>
          <a:ln w="66675">
            <a:solidFill>
              <a:schemeClr val="accent1">
                <a:lumMod val="7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84AF198-1C6D-4DE1-9E5D-6F5095E66E91}"/>
              </a:ext>
            </a:extLst>
          </p:cNvPr>
          <p:cNvSpPr>
            <a:spLocks noGrp="1"/>
          </p:cNvSpPr>
          <p:nvPr/>
        </p:nvSpPr>
        <p:spPr>
          <a:xfrm>
            <a:off x="6496050" y="4848225"/>
            <a:ext cx="285750" cy="285750"/>
          </a:xfrm>
          <a:prstGeom prst="ellipse">
            <a:avLst/>
          </a:prstGeom>
          <a:solidFill>
            <a:srgbClr val="BDEBE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260BDB-5780-40D2-9F5A-8AFDD5C9F8BC}"/>
              </a:ext>
            </a:extLst>
          </p:cNvPr>
          <p:cNvSpPr>
            <a:spLocks noGrp="1"/>
          </p:cNvSpPr>
          <p:nvPr/>
        </p:nvSpPr>
        <p:spPr>
          <a:xfrm>
            <a:off x="6953250" y="47815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Progressive loading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3416FC-73E7-4CB1-89C8-7E82216A1119}"/>
              </a:ext>
            </a:extLst>
          </p:cNvPr>
          <p:cNvSpPr>
            <a:spLocks noGrp="1"/>
          </p:cNvSpPr>
          <p:nvPr/>
        </p:nvSpPr>
        <p:spPr>
          <a:xfrm>
            <a:off x="6953250" y="507682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Adapters route agents to relevant content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1D18DC2E-9BCB-4B9F-B86E-9716D593345E}"/>
              </a:ext>
            </a:extLst>
          </p:cNvPr>
          <p:cNvSpPr>
            <a:spLocks noGrp="1"/>
          </p:cNvSpPr>
          <p:nvPr/>
        </p:nvSpPr>
        <p:spPr>
          <a:xfrm>
            <a:off x="647700" y="6457950"/>
            <a:ext cx="108966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20D50C-7015-40E5-A28B-B86E2FBA953B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Overview of Agentic Development Tooling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5EA789-9323-4D52-B224-6BA21B443210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70B501E-8CA5-C288-55FD-D60CDE268200}"/>
              </a:ext>
            </a:extLst>
          </p:cNvPr>
          <p:cNvSpPr>
            <a:spLocks noGrp="1"/>
          </p:cNvSpPr>
          <p:nvPr/>
        </p:nvSpPr>
        <p:spPr>
          <a:xfrm>
            <a:off x="781050" y="5600700"/>
            <a:ext cx="285750" cy="285750"/>
          </a:xfrm>
          <a:prstGeom prst="ellipse">
            <a:avLst/>
          </a:prstGeom>
          <a:solidFill>
            <a:srgbClr val="FFE0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!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1E9946-1E3C-56E3-DEE0-B16037FAD69D}"/>
              </a:ext>
            </a:extLst>
          </p:cNvPr>
          <p:cNvSpPr>
            <a:spLocks noGrp="1"/>
          </p:cNvSpPr>
          <p:nvPr/>
        </p:nvSpPr>
        <p:spPr>
          <a:xfrm>
            <a:off x="1219200" y="5534025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13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Use latest tools version</a:t>
            </a:r>
            <a:endParaRPr sz="1350" b="1" dirty="0">
              <a:solidFill>
                <a:srgbClr val="102A43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EBF781-B562-E5EA-CDFC-D08627B9AAEB}"/>
              </a:ext>
            </a:extLst>
          </p:cNvPr>
          <p:cNvSpPr>
            <a:spLocks noGrp="1"/>
          </p:cNvSpPr>
          <p:nvPr/>
        </p:nvSpPr>
        <p:spPr>
          <a:xfrm>
            <a:off x="1219200" y="582930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1125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Irisk breaking changes to tools, development, deployment in multiple repositories</a:t>
            </a:r>
            <a:endParaRPr sz="1125" b="0" dirty="0">
              <a:solidFill>
                <a:srgbClr val="627D98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717900B2-5E96-0409-3651-BE4871C2F7F6}"/>
              </a:ext>
            </a:extLst>
          </p:cNvPr>
          <p:cNvSpPr>
            <a:spLocks noGrp="1"/>
          </p:cNvSpPr>
          <p:nvPr/>
        </p:nvSpPr>
        <p:spPr>
          <a:xfrm>
            <a:off x="5137036" y="5857875"/>
            <a:ext cx="476250" cy="0"/>
          </a:xfrm>
          <a:prstGeom prst="line">
            <a:avLst/>
          </a:prstGeom>
          <a:noFill/>
          <a:ln w="66675">
            <a:solidFill>
              <a:schemeClr val="accent1">
                <a:lumMod val="7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0508B99-02CD-689D-BE31-34002105F887}"/>
              </a:ext>
            </a:extLst>
          </p:cNvPr>
          <p:cNvSpPr>
            <a:spLocks noGrp="1"/>
          </p:cNvSpPr>
          <p:nvPr/>
        </p:nvSpPr>
        <p:spPr>
          <a:xfrm>
            <a:off x="6496050" y="5600700"/>
            <a:ext cx="285750" cy="285750"/>
          </a:xfrm>
          <a:prstGeom prst="ellipse">
            <a:avLst/>
          </a:prstGeom>
          <a:solidFill>
            <a:srgbClr val="BDEBE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29B0715-4942-FFE7-C243-AC97216DECF3}"/>
              </a:ext>
            </a:extLst>
          </p:cNvPr>
          <p:cNvSpPr>
            <a:spLocks noGrp="1"/>
          </p:cNvSpPr>
          <p:nvPr/>
        </p:nvSpPr>
        <p:spPr>
          <a:xfrm>
            <a:off x="6953250" y="553402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13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Repository level tool version references</a:t>
            </a:r>
            <a:endParaRPr sz="1350" b="1" dirty="0">
              <a:solidFill>
                <a:srgbClr val="102A43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823D3C8-2568-7849-2B0A-20BDB52E3B08}"/>
              </a:ext>
            </a:extLst>
          </p:cNvPr>
          <p:cNvSpPr>
            <a:spLocks noGrp="1"/>
          </p:cNvSpPr>
          <p:nvPr/>
        </p:nvSpPr>
        <p:spPr>
          <a:xfrm>
            <a:off x="6953250" y="5829300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1125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Each repo can be migrated to latest tools </a:t>
            </a:r>
            <a:r>
              <a:rPr lang="en-US" sz="1125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on its own timeline</a:t>
            </a:r>
            <a:endParaRPr sz="1125" b="0" dirty="0">
              <a:solidFill>
                <a:srgbClr val="627D98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B2F08F7-E16E-560E-9F27-0A181813E4D4}"/>
              </a:ext>
            </a:extLst>
          </p:cNvPr>
          <p:cNvSpPr>
            <a:spLocks noGrp="1"/>
          </p:cNvSpPr>
          <p:nvPr/>
        </p:nvSpPr>
        <p:spPr>
          <a:xfrm flipV="1">
            <a:off x="647700" y="1448817"/>
            <a:ext cx="10091636" cy="60896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4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B05F769-F919-42CE-8427-4D5F567493E1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Target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O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perating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M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844043-3896-4D47-951F-19470DED913F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9906000" cy="50482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 central source publishes versioned knowledge into every application repository</a:t>
            </a:r>
            <a:r>
              <a:rPr lang="en-US" sz="1350" b="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. This ensures that the coding model </a:t>
            </a:r>
            <a:r>
              <a:rPr lang="en-US" sz="1350" dirty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matches the commit level of the application. </a:t>
            </a:r>
            <a:endParaRPr sz="1350" b="0" dirty="0">
              <a:solidFill>
                <a:srgbClr val="627D98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076C82-3AB4-4D25-BF57-D35D4B025C61}"/>
              </a:ext>
            </a:extLst>
          </p:cNvPr>
          <p:cNvSpPr>
            <a:spLocks noGrp="1"/>
          </p:cNvSpPr>
          <p:nvPr/>
        </p:nvSpPr>
        <p:spPr>
          <a:xfrm flipV="1">
            <a:off x="647700" y="1448817"/>
            <a:ext cx="10091636" cy="60896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2FF142-6116-4F8F-B0C0-B0C050B680F7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2667000" cy="2381250"/>
          </a:xfrm>
          <a:prstGeom prst="roundRect">
            <a:avLst>
              <a:gd name="adj" fmla="val 7200"/>
            </a:avLst>
          </a:prstGeom>
          <a:solidFill>
            <a:srgbClr val="071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D7AE7-A607-4CA8-9002-B6D61B691198}"/>
              </a:ext>
            </a:extLst>
          </p:cNvPr>
          <p:cNvSpPr>
            <a:spLocks noGrp="1"/>
          </p:cNvSpPr>
          <p:nvPr/>
        </p:nvSpPr>
        <p:spPr>
          <a:xfrm>
            <a:off x="962025" y="2305050"/>
            <a:ext cx="21907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CENTRAL ENGINEERING</a:t>
            </a:r>
          </a:p>
          <a:p>
            <a:pPr algn="ctr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D35BC9-F850-49BE-B6B0-F61CF596B714}"/>
              </a:ext>
            </a:extLst>
          </p:cNvPr>
          <p:cNvSpPr>
            <a:spLocks noGrp="1"/>
          </p:cNvSpPr>
          <p:nvPr/>
        </p:nvSpPr>
        <p:spPr>
          <a:xfrm>
            <a:off x="1190625" y="3067050"/>
            <a:ext cx="171450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standards/</a:t>
            </a:r>
          </a:p>
          <a:p>
            <a:pPr algn="l">
              <a:defRPr sz="15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workflows/</a:t>
            </a:r>
          </a:p>
          <a:p>
            <a:pPr algn="l">
              <a:defRPr sz="15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skills/</a:t>
            </a:r>
          </a:p>
          <a:p>
            <a:pPr algn="l">
              <a:defRPr sz="15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templates/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D22466-1C98-4E08-A16C-35C11818C761}"/>
              </a:ext>
            </a:extLst>
          </p:cNvPr>
          <p:cNvSpPr>
            <a:spLocks noGrp="1"/>
          </p:cNvSpPr>
          <p:nvPr/>
        </p:nvSpPr>
        <p:spPr>
          <a:xfrm>
            <a:off x="4743450" y="2324100"/>
            <a:ext cx="2724150" cy="1809750"/>
          </a:xfrm>
          <a:prstGeom prst="roundRect">
            <a:avLst>
              <a:gd name="adj" fmla="val 9474"/>
            </a:avLst>
          </a:prstGeom>
          <a:solidFill>
            <a:srgbClr val="BDEBE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CD1DA4-3AFB-4644-BF5B-BDD6BF40EDEF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23050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071B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071B2E"/>
                </a:solidFill>
                <a:latin typeface="Nimbus Sans"/>
                <a:ea typeface="Nimbus Sans"/>
                <a:cs typeface="Nimbus Sans"/>
              </a:rPr>
              <a:t>PINNED LOCAL SNAPSHOT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B4CD21-5120-4DB7-AC9E-CAF11A3D3CB8}"/>
              </a:ext>
            </a:extLst>
          </p:cNvPr>
          <p:cNvSpPr>
            <a:spLocks noGrp="1"/>
          </p:cNvSpPr>
          <p:nvPr/>
        </p:nvSpPr>
        <p:spPr>
          <a:xfrm>
            <a:off x="5219700" y="3105150"/>
            <a:ext cx="18097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0D2D44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0D2D44"/>
                </a:solidFill>
                <a:latin typeface="Nimbus Mono PS"/>
                <a:ea typeface="Nimbus Mono PS"/>
                <a:cs typeface="Nimbus Mono PS"/>
              </a:rPr>
              <a:t>.agent/VERSION</a:t>
            </a:r>
          </a:p>
          <a:p>
            <a:pPr algn="l">
              <a:defRPr sz="1350" b="0">
                <a:solidFill>
                  <a:srgbClr val="0D2D44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0D2D44"/>
                </a:solidFill>
                <a:latin typeface="Nimbus Mono PS"/>
                <a:ea typeface="Nimbus Mono PS"/>
                <a:cs typeface="Nimbus Mono PS"/>
              </a:rPr>
              <a:t>.agent/standards/</a:t>
            </a:r>
          </a:p>
          <a:p>
            <a:pPr algn="l">
              <a:defRPr sz="1350" b="0">
                <a:solidFill>
                  <a:srgbClr val="0D2D44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0D2D44"/>
                </a:solidFill>
                <a:latin typeface="Nimbus Mono PS"/>
                <a:ea typeface="Nimbus Mono PS"/>
                <a:cs typeface="Nimbus Mono PS"/>
              </a:rPr>
              <a:t>.agent/workflows/</a:t>
            </a:r>
          </a:p>
          <a:p>
            <a:pPr algn="l">
              <a:defRPr sz="1350" b="0">
                <a:solidFill>
                  <a:srgbClr val="0D2D44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0D2D44"/>
                </a:solidFill>
                <a:latin typeface="Nimbus Mono PS"/>
                <a:ea typeface="Nimbus Mono PS"/>
                <a:cs typeface="Nimbus Mono PS"/>
              </a:rPr>
              <a:t>.agent/skills/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CC15B5-E8EC-418E-A2DB-0AF2A5D3E3FB}"/>
              </a:ext>
            </a:extLst>
          </p:cNvPr>
          <p:cNvSpPr>
            <a:spLocks noGrp="1"/>
          </p:cNvSpPr>
          <p:nvPr/>
        </p:nvSpPr>
        <p:spPr>
          <a:xfrm>
            <a:off x="8591550" y="1755490"/>
            <a:ext cx="2857500" cy="2952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0EB5E2-C208-46BC-BDFE-7A2D8446930A}"/>
              </a:ext>
            </a:extLst>
          </p:cNvPr>
          <p:cNvSpPr>
            <a:spLocks noGrp="1"/>
          </p:cNvSpPr>
          <p:nvPr/>
        </p:nvSpPr>
        <p:spPr>
          <a:xfrm>
            <a:off x="8858250" y="2114550"/>
            <a:ext cx="2324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APPLICATION REPOSITORY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380C3D-AD04-4120-8745-D3168D412F83}"/>
              </a:ext>
            </a:extLst>
          </p:cNvPr>
          <p:cNvSpPr>
            <a:spLocks noGrp="1"/>
          </p:cNvSpPr>
          <p:nvPr/>
        </p:nvSpPr>
        <p:spPr>
          <a:xfrm>
            <a:off x="8858250" y="2686050"/>
            <a:ext cx="232410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75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rPr>
              <a:t>AGENTS.md</a:t>
            </a:r>
          </a:p>
          <a:p>
            <a:pPr algn="ctr">
              <a:defRPr sz="1275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75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rPr>
              <a:t>CLAUDE.md</a:t>
            </a:r>
          </a:p>
          <a:p>
            <a:pPr algn="ctr">
              <a:defRPr sz="1275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75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rPr>
              <a:t>.github/copilot-instructions.md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BD19366-EF32-4EE2-A643-A0AA6FCB7B4F}"/>
              </a:ext>
            </a:extLst>
          </p:cNvPr>
          <p:cNvSpPr>
            <a:spLocks noGrp="1"/>
          </p:cNvSpPr>
          <p:nvPr/>
        </p:nvSpPr>
        <p:spPr>
          <a:xfrm>
            <a:off x="8915400" y="3733800"/>
            <a:ext cx="22098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5EDB89-8ED8-46D9-B63C-A624D7F0B6EB}"/>
              </a:ext>
            </a:extLst>
          </p:cNvPr>
          <p:cNvSpPr>
            <a:spLocks noGrp="1"/>
          </p:cNvSpPr>
          <p:nvPr/>
        </p:nvSpPr>
        <p:spPr>
          <a:xfrm>
            <a:off x="8877300" y="3943350"/>
            <a:ext cx="2286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Repo architecture</a:t>
            </a:r>
          </a:p>
          <a:p>
            <a:pPr algn="ctr">
              <a:defRPr sz="127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Build and test commands</a:t>
            </a:r>
          </a:p>
          <a:p>
            <a:pPr algn="ctr">
              <a:defRPr sz="1275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Local constraints</a:t>
            </a:r>
          </a:p>
        </p:txBody>
      </p:sp>
      <p:cxnSp>
        <p:nvCxnSpPr>
          <p:cNvPr id="43" name="Straight Arrow Connector 42"/>
          <p:cNvCxnSpPr>
            <a:stCxn id="5" idx="3"/>
            <a:endCxn id="8" idx="1"/>
          </p:cNvCxnSpPr>
          <p:nvPr/>
        </p:nvCxnSpPr>
        <p:spPr>
          <a:xfrm>
            <a:off x="3390900" y="3228975"/>
            <a:ext cx="1352550" cy="0"/>
          </a:xfrm>
          <a:prstGeom prst="straightConnector1">
            <a:avLst/>
          </a:prstGeom>
          <a:ln w="38100">
            <a:solidFill>
              <a:srgbClr val="FF8A5B"/>
            </a:solidFill>
            <a:headEnd type="triangle" w="med" len="med"/>
          </a:ln>
        </p:spPr>
      </p:cxnSp>
      <p:cxnSp>
        <p:nvCxnSpPr>
          <p:cNvPr id="44" name="Straight Arrow Connector 43"/>
          <p:cNvCxnSpPr>
            <a:stCxn id="8" idx="3"/>
            <a:endCxn id="11" idx="1"/>
          </p:cNvCxnSpPr>
          <p:nvPr/>
        </p:nvCxnSpPr>
        <p:spPr>
          <a:xfrm>
            <a:off x="7467600" y="3228975"/>
            <a:ext cx="1123950" cy="2890"/>
          </a:xfrm>
          <a:prstGeom prst="straightConnector1">
            <a:avLst/>
          </a:prstGeom>
          <a:ln w="38100">
            <a:solidFill>
              <a:srgbClr val="FF8A5B"/>
            </a:solidFill>
            <a:headEnd type="triangle" w="med" len="med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01A509-8F89-48B2-8C04-F8D80E10D095}"/>
              </a:ext>
            </a:extLst>
          </p:cNvPr>
          <p:cNvSpPr>
            <a:spLocks noGrp="1"/>
          </p:cNvSpPr>
          <p:nvPr/>
        </p:nvSpPr>
        <p:spPr>
          <a:xfrm>
            <a:off x="3505200" y="2762250"/>
            <a:ext cx="1104900" cy="285750"/>
          </a:xfrm>
          <a:prstGeom prst="roundRect">
            <a:avLst>
              <a:gd name="adj" fmla="val 50000"/>
            </a:avLst>
          </a:prstGeom>
          <a:solidFill>
            <a:srgbClr val="FFE0D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9202E9-2E08-4513-B2F3-ABF2D2B30CD3}"/>
              </a:ext>
            </a:extLst>
          </p:cNvPr>
          <p:cNvSpPr>
            <a:spLocks noGrp="1"/>
          </p:cNvSpPr>
          <p:nvPr/>
        </p:nvSpPr>
        <p:spPr>
          <a:xfrm>
            <a:off x="3505200" y="280035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release + sync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4E6386-659D-431C-B7D6-EE2DE893DEB1}"/>
              </a:ext>
            </a:extLst>
          </p:cNvPr>
          <p:cNvSpPr>
            <a:spLocks noGrp="1"/>
          </p:cNvSpPr>
          <p:nvPr/>
        </p:nvSpPr>
        <p:spPr>
          <a:xfrm>
            <a:off x="7448550" y="2762250"/>
            <a:ext cx="1104900" cy="285750"/>
          </a:xfrm>
          <a:prstGeom prst="roundRect">
            <a:avLst>
              <a:gd name="adj" fmla="val 50000"/>
            </a:avLst>
          </a:prstGeom>
          <a:solidFill>
            <a:srgbClr val="EAF4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059593-37FF-4C90-BBBB-EB05AF97E859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176B8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176B87"/>
                </a:solidFill>
                <a:latin typeface="Nimbus Sans"/>
                <a:ea typeface="Nimbus Sans"/>
                <a:cs typeface="Nimbus Sans"/>
              </a:rPr>
              <a:t>local context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8BECE7-5D13-4163-B82E-22607AEC3EC7}"/>
              </a:ext>
            </a:extLst>
          </p:cNvPr>
          <p:cNvSpPr>
            <a:spLocks noGrp="1"/>
          </p:cNvSpPr>
          <p:nvPr/>
        </p:nvSpPr>
        <p:spPr>
          <a:xfrm>
            <a:off x="1219200" y="5143500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Author once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693411-08BC-4A6E-B49A-4CD6FCC3D012}"/>
              </a:ext>
            </a:extLst>
          </p:cNvPr>
          <p:cNvSpPr>
            <a:spLocks noGrp="1"/>
          </p:cNvSpPr>
          <p:nvPr/>
        </p:nvSpPr>
        <p:spPr>
          <a:xfrm>
            <a:off x="5219700" y="5143499"/>
            <a:ext cx="1771650" cy="74006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13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Repo release is pinned to AI tool version</a:t>
            </a:r>
            <a:endParaRPr sz="1350" b="1" dirty="0">
              <a:solidFill>
                <a:srgbClr val="102A43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9A7B45-A1EC-475E-87C9-F0BB9ABBE056}"/>
              </a:ext>
            </a:extLst>
          </p:cNvPr>
          <p:cNvSpPr>
            <a:spLocks noGrp="1"/>
          </p:cNvSpPr>
          <p:nvPr/>
        </p:nvSpPr>
        <p:spPr>
          <a:xfrm>
            <a:off x="9144000" y="5143500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Execute locally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E86AEA63-67A4-44DB-85CE-5A6844B19830}"/>
              </a:ext>
            </a:extLst>
          </p:cNvPr>
          <p:cNvSpPr>
            <a:spLocks noGrp="1"/>
          </p:cNvSpPr>
          <p:nvPr/>
        </p:nvSpPr>
        <p:spPr>
          <a:xfrm>
            <a:off x="647700" y="6457950"/>
            <a:ext cx="108966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FB8033-4CD9-4814-9784-0F1B2533B5BF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Recommended Implementation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6477DA-17F5-4D37-9867-158C37A4587A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34004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FACE24A-6C2C-434F-9B84-1E2532B1C566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Shared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ngineering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epository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0A8C04-D388-480D-A284-E579C64C93ED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Reusable standards, workflows, skills, and starter files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9E2A0E-C85C-4D2C-9C7C-3605F49C1E94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5810250" cy="4457700"/>
          </a:xfrm>
          <a:prstGeom prst="roundRect">
            <a:avLst>
              <a:gd name="adj" fmla="val 2991"/>
            </a:avLst>
          </a:prstGeom>
          <a:solidFill>
            <a:srgbClr val="071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17E477-AC3A-41CF-BAF3-705D8164E70D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5257800" cy="396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StarbenderSystems/engineering/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├── standards/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general.md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git.md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security.md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testing.md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dotnet.md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embedded.md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└── kicad.md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├── workflows/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feature-development.md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dependency-update.md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└── release.md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├── skills/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sb-dotnet-engineering/SKILL.md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└── sb-kicad-engineering/SKILL.md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└── templates/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    ├── AGENTS.md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    ├── CLAUDE.md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    └── repository-bootstrap/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895B13-E36B-4995-AD36-C7C7CED09B3B}"/>
              </a:ext>
            </a:extLst>
          </p:cNvPr>
          <p:cNvSpPr>
            <a:spLocks noGrp="1"/>
          </p:cNvSpPr>
          <p:nvPr/>
        </p:nvSpPr>
        <p:spPr>
          <a:xfrm>
            <a:off x="7105650" y="175260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6B87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76B87"/>
                </a:solidFill>
                <a:latin typeface="Nimbus Sans"/>
                <a:ea typeface="Nimbus Sans"/>
                <a:cs typeface="Nimbus Sans"/>
              </a:rPr>
              <a:t>STANDARDS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4419C1-A135-4B36-B772-F2516C683C7F}"/>
              </a:ext>
            </a:extLst>
          </p:cNvPr>
          <p:cNvSpPr>
            <a:spLocks noGrp="1"/>
          </p:cNvSpPr>
          <p:nvPr/>
        </p:nvSpPr>
        <p:spPr>
          <a:xfrm>
            <a:off x="7105650" y="20574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Standing rules that apply broadly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B7D8DFA-039D-4F36-A321-EFD077472A9D}"/>
              </a:ext>
            </a:extLst>
          </p:cNvPr>
          <p:cNvSpPr>
            <a:spLocks noGrp="1"/>
          </p:cNvSpPr>
          <p:nvPr/>
        </p:nvSpPr>
        <p:spPr>
          <a:xfrm>
            <a:off x="6705600" y="1866900"/>
            <a:ext cx="247650" cy="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C3B2BA-809C-4DEB-B766-93A75B0A9B50}"/>
              </a:ext>
            </a:extLst>
          </p:cNvPr>
          <p:cNvSpPr>
            <a:spLocks noGrp="1"/>
          </p:cNvSpPr>
          <p:nvPr/>
        </p:nvSpPr>
        <p:spPr>
          <a:xfrm>
            <a:off x="7105650" y="274320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WORKFLOWS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49DBCA-107C-4B3C-8C9C-2CE87AC6D5A1}"/>
              </a:ext>
            </a:extLst>
          </p:cNvPr>
          <p:cNvSpPr>
            <a:spLocks noGrp="1"/>
          </p:cNvSpPr>
          <p:nvPr/>
        </p:nvSpPr>
        <p:spPr>
          <a:xfrm>
            <a:off x="7105650" y="30480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Repeatable procedures with validation steps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9C1574C-20C7-4C7E-9ABD-F56757D4A983}"/>
              </a:ext>
            </a:extLst>
          </p:cNvPr>
          <p:cNvSpPr>
            <a:spLocks noGrp="1"/>
          </p:cNvSpPr>
          <p:nvPr/>
        </p:nvSpPr>
        <p:spPr>
          <a:xfrm>
            <a:off x="6705600" y="2857500"/>
            <a:ext cx="247650" cy="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BE8F55-E643-4DB7-91B3-CECB7B0EEDBE}"/>
              </a:ext>
            </a:extLst>
          </p:cNvPr>
          <p:cNvSpPr>
            <a:spLocks noGrp="1"/>
          </p:cNvSpPr>
          <p:nvPr/>
        </p:nvSpPr>
        <p:spPr>
          <a:xfrm>
            <a:off x="7105650" y="373380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E8B74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2E8B74"/>
                </a:solidFill>
                <a:latin typeface="Nimbus Sans"/>
                <a:ea typeface="Nimbus Sans"/>
                <a:cs typeface="Nimbus Sans"/>
              </a:rPr>
              <a:t>SKILLS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93E337-BD78-4EB6-B7E8-59B67A274837}"/>
              </a:ext>
            </a:extLst>
          </p:cNvPr>
          <p:cNvSpPr>
            <a:spLocks noGrp="1"/>
          </p:cNvSpPr>
          <p:nvPr/>
        </p:nvSpPr>
        <p:spPr>
          <a:xfrm>
            <a:off x="7105650" y="40386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Task-oriented agent capabilities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179112B-AACE-4138-9FC7-8C117C30A2B7}"/>
              </a:ext>
            </a:extLst>
          </p:cNvPr>
          <p:cNvSpPr>
            <a:spLocks noGrp="1"/>
          </p:cNvSpPr>
          <p:nvPr/>
        </p:nvSpPr>
        <p:spPr>
          <a:xfrm>
            <a:off x="6705600" y="3848100"/>
            <a:ext cx="247650" cy="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7E31AD-B5B8-457F-9BCA-A89A98E3491F}"/>
              </a:ext>
            </a:extLst>
          </p:cNvPr>
          <p:cNvSpPr>
            <a:spLocks noGrp="1"/>
          </p:cNvSpPr>
          <p:nvPr/>
        </p:nvSpPr>
        <p:spPr>
          <a:xfrm>
            <a:off x="7105650" y="472440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TEMPLATES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8CB30A-ADE3-4CD4-893C-B4011EC9B68F}"/>
              </a:ext>
            </a:extLst>
          </p:cNvPr>
          <p:cNvSpPr>
            <a:spLocks noGrp="1"/>
          </p:cNvSpPr>
          <p:nvPr/>
        </p:nvSpPr>
        <p:spPr>
          <a:xfrm>
            <a:off x="7105650" y="50292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Thin adapters and bootstrap assets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7098BE3-7E85-4FA6-8A37-5DA95B2CF7BD}"/>
              </a:ext>
            </a:extLst>
          </p:cNvPr>
          <p:cNvSpPr>
            <a:spLocks noGrp="1"/>
          </p:cNvSpPr>
          <p:nvPr/>
        </p:nvSpPr>
        <p:spPr>
          <a:xfrm>
            <a:off x="6705600" y="4838700"/>
            <a:ext cx="247650" cy="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42486F3-7F77-4E4F-B962-CE617C0CFEE7}"/>
              </a:ext>
            </a:extLst>
          </p:cNvPr>
          <p:cNvSpPr>
            <a:spLocks noGrp="1"/>
          </p:cNvSpPr>
          <p:nvPr/>
        </p:nvSpPr>
        <p:spPr>
          <a:xfrm>
            <a:off x="647700" y="6457950"/>
            <a:ext cx="108966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96298B-0030-4203-93FE-408DF98778EA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Recommended Implementation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80CA14-7FA9-4E18-BD61-FAAB154377B6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BEC05D-30C5-B6CA-0920-DE4468F4F835}"/>
              </a:ext>
            </a:extLst>
          </p:cNvPr>
          <p:cNvSpPr>
            <a:spLocks noGrp="1"/>
          </p:cNvSpPr>
          <p:nvPr/>
        </p:nvSpPr>
        <p:spPr>
          <a:xfrm flipV="1">
            <a:off x="647700" y="1448817"/>
            <a:ext cx="10091636" cy="60896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3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A3031A4-5C7B-4B1A-A082-862002C3C666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Application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epository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ayout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10913-C5A7-463D-A587-9FED5FE84FF9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Shared content is synchronized. Repository context and agent adapters remain locally owned.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6E67C5-6C19-495A-B675-1195C49AA508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6096000" cy="4457700"/>
          </a:xfrm>
          <a:prstGeom prst="roundRect">
            <a:avLst>
              <a:gd name="adj" fmla="val 2991"/>
            </a:avLst>
          </a:prstGeom>
          <a:solidFill>
            <a:srgbClr val="071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7D7A6-824C-4065-BF32-7B3AF9F6642C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560070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application-repo/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├── AGENTS.md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├── CLAUDE.md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├── DEVELOPING.md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├── .agent/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VERSION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standards/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workflows/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└── skills/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├── .github/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copilot-instructions.md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├── instructions/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│   ├── dotnet.instructions.md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│   ├── tests.instructions.md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│   └── database.instructions.md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└── prompts/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    ├── review-pr.prompt.md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│       └── investigate-bug.prompt.md</a:t>
            </a:r>
          </a:p>
          <a:p>
            <a:pPr algn="l">
              <a:def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00" b="0">
                <a:solidFill>
                  <a:srgbClr val="BDEBE7"/>
                </a:solidFill>
                <a:latin typeface="Nimbus Mono PS"/>
                <a:ea typeface="Nimbus Mono PS"/>
                <a:cs typeface="Nimbus Mono PS"/>
              </a:rPr>
              <a:t>└── docs/architecture/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362B9B-179A-42FF-A2F3-C59AB5CAE747}"/>
              </a:ext>
            </a:extLst>
          </p:cNvPr>
          <p:cNvSpPr>
            <a:spLocks noGrp="1"/>
          </p:cNvSpPr>
          <p:nvPr/>
        </p:nvSpPr>
        <p:spPr>
          <a:xfrm>
            <a:off x="7219950" y="17335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FF8A5B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8A5B"/>
                </a:solidFill>
                <a:latin typeface="Nimbus Sans"/>
                <a:ea typeface="Nimbus Sans"/>
                <a:cs typeface="Nimbus Sans"/>
              </a:rPr>
              <a:t>LOCAL OWNERSHIP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24DF1-2267-4A74-9491-71734679E209}"/>
              </a:ext>
            </a:extLst>
          </p:cNvPr>
          <p:cNvSpPr>
            <a:spLocks noGrp="1"/>
          </p:cNvSpPr>
          <p:nvPr/>
        </p:nvSpPr>
        <p:spPr>
          <a:xfrm>
            <a:off x="7219950" y="2076450"/>
            <a:ext cx="4095750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AGENTS.md</a:t>
            </a:r>
          </a:p>
          <a:p>
            <a:pPr algn="l">
              <a:def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CLAUDE.md</a:t>
            </a:r>
          </a:p>
          <a:p>
            <a:pPr algn="l">
              <a:def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.github/copilot-instructions.md</a:t>
            </a:r>
          </a:p>
          <a:p>
            <a:pPr algn="l">
              <a:def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DEVELOPING.md</a:t>
            </a:r>
          </a:p>
          <a:p>
            <a:pPr algn="l">
              <a:def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docs/architecture/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36998A-10D3-4368-9A3E-DA0E081988AC}"/>
              </a:ext>
            </a:extLst>
          </p:cNvPr>
          <p:cNvSpPr>
            <a:spLocks noGrp="1"/>
          </p:cNvSpPr>
          <p:nvPr/>
        </p:nvSpPr>
        <p:spPr>
          <a:xfrm>
            <a:off x="7219950" y="3619500"/>
            <a:ext cx="2762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2E8B74"/>
                </a:solidFill>
                <a:latin typeface="Nimbus Sans"/>
                <a:ea typeface="Nimbus Sans"/>
                <a:cs typeface="Nimbus Sans"/>
              </a:rPr>
              <a:t>SYNCHRONIZED SNAPSHOT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36E487-8510-4997-9B54-3592222ACA58}"/>
              </a:ext>
            </a:extLst>
          </p:cNvPr>
          <p:cNvSpPr>
            <a:spLocks noGrp="1"/>
          </p:cNvSpPr>
          <p:nvPr/>
        </p:nvSpPr>
        <p:spPr>
          <a:xfrm>
            <a:off x="7219950" y="3962400"/>
            <a:ext cx="371475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.agent/VERSION</a:t>
            </a:r>
          </a:p>
          <a:p>
            <a:pPr algn="l">
              <a:def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.agent/standards/</a:t>
            </a:r>
          </a:p>
          <a:p>
            <a:pPr algn="l">
              <a:def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.agent/workflows/</a:t>
            </a:r>
          </a:p>
          <a:p>
            <a:pPr algn="l">
              <a:def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350" b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.agent/skills/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DC001B-7A8A-4333-94C3-32B6906964AF}"/>
              </a:ext>
            </a:extLst>
          </p:cNvPr>
          <p:cNvSpPr>
            <a:spLocks noGrp="1"/>
          </p:cNvSpPr>
          <p:nvPr/>
        </p:nvSpPr>
        <p:spPr>
          <a:xfrm>
            <a:off x="7219950" y="5219699"/>
            <a:ext cx="3924300" cy="809625"/>
          </a:xfrm>
          <a:prstGeom prst="roundRect">
            <a:avLst>
              <a:gd name="adj" fmla="val 17241"/>
            </a:avLst>
          </a:prstGeom>
          <a:solidFill>
            <a:srgbClr val="EAF4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F1268-866D-43D6-AD72-6133D1B8E1F9}"/>
              </a:ext>
            </a:extLst>
          </p:cNvPr>
          <p:cNvSpPr>
            <a:spLocks noGrp="1"/>
          </p:cNvSpPr>
          <p:nvPr/>
        </p:nvSpPr>
        <p:spPr>
          <a:xfrm>
            <a:off x="7410450" y="5381624"/>
            <a:ext cx="3543300" cy="55244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76B8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dirty="0">
                <a:solidFill>
                  <a:srgbClr val="176B87"/>
                </a:solidFill>
                <a:latin typeface="Nimbus Sans"/>
                <a:ea typeface="Nimbus Sans"/>
                <a:cs typeface="Nimbus Sans"/>
              </a:rPr>
              <a:t>Pin versions so every change remains reproducible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6B08EB9-084C-4C05-BB52-55194A82A776}"/>
              </a:ext>
            </a:extLst>
          </p:cNvPr>
          <p:cNvSpPr>
            <a:spLocks noGrp="1"/>
          </p:cNvSpPr>
          <p:nvPr/>
        </p:nvSpPr>
        <p:spPr>
          <a:xfrm>
            <a:off x="647700" y="6457950"/>
            <a:ext cx="108966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6FD8ED-5C91-4D8D-8D06-D5386653BD40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Recommended Implementation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5829E5-573D-4503-8BAC-6103307B4EC2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C7E500-D947-023C-E565-713B2C2D96D8}"/>
              </a:ext>
            </a:extLst>
          </p:cNvPr>
          <p:cNvSpPr>
            <a:spLocks noGrp="1"/>
          </p:cNvSpPr>
          <p:nvPr/>
        </p:nvSpPr>
        <p:spPr>
          <a:xfrm flipV="1">
            <a:off x="647700" y="1448817"/>
            <a:ext cx="10091636" cy="60896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2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E5B734B-0DCA-4AB3-907F-5F836C2E653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Artifact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esponsibilities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49C76A-9B81-4E47-B1A9-1083FBD486EF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Rules, procedures, prompts, and adapters serve different purposes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3ADF69-2E64-4CD4-8810-29A0E65B204F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TYPE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5D3A89-6A5A-4958-9D74-10AF78F2AA10}"/>
              </a:ext>
            </a:extLst>
          </p:cNvPr>
          <p:cNvSpPr>
            <a:spLocks noGrp="1"/>
          </p:cNvSpPr>
          <p:nvPr/>
        </p:nvSpPr>
        <p:spPr>
          <a:xfrm>
            <a:off x="2876550" y="16764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WHEN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78DDA-C0EB-4F58-B1E1-E025A4CD99A4}"/>
              </a:ext>
            </a:extLst>
          </p:cNvPr>
          <p:cNvSpPr>
            <a:spLocks noGrp="1"/>
          </p:cNvSpPr>
          <p:nvPr/>
        </p:nvSpPr>
        <p:spPr>
          <a:xfrm>
            <a:off x="5162550" y="16764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PURPOSE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89965D-1FAB-46E5-A99B-4CF7FFF6F005}"/>
              </a:ext>
            </a:extLst>
          </p:cNvPr>
          <p:cNvSpPr>
            <a:spLocks noGrp="1"/>
          </p:cNvSpPr>
          <p:nvPr/>
        </p:nvSpPr>
        <p:spPr>
          <a:xfrm>
            <a:off x="7962900" y="167640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EXAMPLE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7B53140-4186-4964-AC97-CEF1E5E63A21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1057275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5CB4A0-18E0-4596-B999-79CF7DDBC0FD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DF3D4-5D2C-4A3E-8D21-AE66EF40A23A}"/>
              </a:ext>
            </a:extLst>
          </p:cNvPr>
          <p:cNvSpPr>
            <a:spLocks noGrp="1"/>
          </p:cNvSpPr>
          <p:nvPr/>
        </p:nvSpPr>
        <p:spPr>
          <a:xfrm>
            <a:off x="781050" y="2124075"/>
            <a:ext cx="15621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STANDARDS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652E01-9399-408F-9D82-DB500F166D57}"/>
              </a:ext>
            </a:extLst>
          </p:cNvPr>
          <p:cNvSpPr>
            <a:spLocks noGrp="1"/>
          </p:cNvSpPr>
          <p:nvPr/>
        </p:nvSpPr>
        <p:spPr>
          <a:xfrm>
            <a:off x="2876550" y="2085975"/>
            <a:ext cx="19431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Always apply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E94E39-7C0B-4015-8186-B9CE8664BB10}"/>
              </a:ext>
            </a:extLst>
          </p:cNvPr>
          <p:cNvSpPr>
            <a:spLocks noGrp="1"/>
          </p:cNvSpPr>
          <p:nvPr/>
        </p:nvSpPr>
        <p:spPr>
          <a:xfrm>
            <a:off x="5162550" y="208597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Engineering rules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7F96D5-0CCD-4E08-B062-D640AE9C1C80}"/>
              </a:ext>
            </a:extLst>
          </p:cNvPr>
          <p:cNvSpPr>
            <a:spLocks noGrp="1"/>
          </p:cNvSpPr>
          <p:nvPr/>
        </p:nvSpPr>
        <p:spPr>
          <a:xfrm>
            <a:off x="7962900" y="20574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050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rPr>
              <a:t>.agent/standards/dotnet.md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8196EF0-BA3D-4F8C-90AB-623C929D9C5A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1057275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AB258F-5612-45A3-9E0C-2BA2457E3A48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F8A5B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4058D1-8BA3-4C4B-9D50-EEAAD0E45B07}"/>
              </a:ext>
            </a:extLst>
          </p:cNvPr>
          <p:cNvSpPr>
            <a:spLocks noGrp="1"/>
          </p:cNvSpPr>
          <p:nvPr/>
        </p:nvSpPr>
        <p:spPr>
          <a:xfrm>
            <a:off x="781050" y="2847975"/>
            <a:ext cx="15621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WORKFLOWS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D5EE14-576E-4A8F-ADCA-09E04F40FA09}"/>
              </a:ext>
            </a:extLst>
          </p:cNvPr>
          <p:cNvSpPr>
            <a:spLocks noGrp="1"/>
          </p:cNvSpPr>
          <p:nvPr/>
        </p:nvSpPr>
        <p:spPr>
          <a:xfrm>
            <a:off x="2876550" y="2809875"/>
            <a:ext cx="19431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Apply to a procedure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257806-3F34-4837-B2D6-D4D211D7A7A8}"/>
              </a:ext>
            </a:extLst>
          </p:cNvPr>
          <p:cNvSpPr>
            <a:spLocks noGrp="1"/>
          </p:cNvSpPr>
          <p:nvPr/>
        </p:nvSpPr>
        <p:spPr>
          <a:xfrm>
            <a:off x="5162550" y="280987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Ordered task method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80DABA-FDF6-44D2-B91B-AFDAC229A643}"/>
              </a:ext>
            </a:extLst>
          </p:cNvPr>
          <p:cNvSpPr>
            <a:spLocks noGrp="1"/>
          </p:cNvSpPr>
          <p:nvPr/>
        </p:nvSpPr>
        <p:spPr>
          <a:xfrm>
            <a:off x="7962900" y="27813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050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rPr>
              <a:t>.agent/workflows/release.md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022BA33-6320-47C5-8C69-8CA4E1F2F627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1057275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734F9B-E12B-4B6F-BB04-364388944FF3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2E8B74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13B27C-EC4D-4BC7-8956-1ACBD9735095}"/>
              </a:ext>
            </a:extLst>
          </p:cNvPr>
          <p:cNvSpPr>
            <a:spLocks noGrp="1"/>
          </p:cNvSpPr>
          <p:nvPr/>
        </p:nvSpPr>
        <p:spPr>
          <a:xfrm>
            <a:off x="781050" y="3571875"/>
            <a:ext cx="15621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SKILLS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91BE62-E222-4423-8AAB-7011DE06F877}"/>
              </a:ext>
            </a:extLst>
          </p:cNvPr>
          <p:cNvSpPr>
            <a:spLocks noGrp="1"/>
          </p:cNvSpPr>
          <p:nvPr/>
        </p:nvSpPr>
        <p:spPr>
          <a:xfrm>
            <a:off x="2876550" y="3533775"/>
            <a:ext cx="19431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Load for a task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D5B49B-A48E-48FD-B384-9D87E75CFFFF}"/>
              </a:ext>
            </a:extLst>
          </p:cNvPr>
          <p:cNvSpPr>
            <a:spLocks noGrp="1"/>
          </p:cNvSpPr>
          <p:nvPr/>
        </p:nvSpPr>
        <p:spPr>
          <a:xfrm>
            <a:off x="5162550" y="353377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Executable agent guidance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DB23B5-ECAF-4076-BEA3-69B8F0FBF29D}"/>
              </a:ext>
            </a:extLst>
          </p:cNvPr>
          <p:cNvSpPr>
            <a:spLocks noGrp="1"/>
          </p:cNvSpPr>
          <p:nvPr/>
        </p:nvSpPr>
        <p:spPr>
          <a:xfrm>
            <a:off x="7962900" y="35052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050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rPr>
              <a:t>.agent/skills/ef-migration/SKILL.md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E133FDEB-73EC-4E6E-9553-D2CBAAC62C71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1057275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2F479A6-8D45-4F36-BA62-8B11E3BCDB86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627D98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1B614E-D99A-4E09-A513-113C00A10D51}"/>
              </a:ext>
            </a:extLst>
          </p:cNvPr>
          <p:cNvSpPr>
            <a:spLocks noGrp="1"/>
          </p:cNvSpPr>
          <p:nvPr/>
        </p:nvSpPr>
        <p:spPr>
          <a:xfrm>
            <a:off x="781050" y="4295775"/>
            <a:ext cx="15621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PROMPTS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BA8D56-D767-445C-AF4F-3E4771FE36D6}"/>
              </a:ext>
            </a:extLst>
          </p:cNvPr>
          <p:cNvSpPr>
            <a:spLocks noGrp="1"/>
          </p:cNvSpPr>
          <p:nvPr/>
        </p:nvSpPr>
        <p:spPr>
          <a:xfrm>
            <a:off x="2876550" y="4257675"/>
            <a:ext cx="19431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Invoke on demand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508E02-9102-488B-AE79-F0D199EDB000}"/>
              </a:ext>
            </a:extLst>
          </p:cNvPr>
          <p:cNvSpPr>
            <a:spLocks noGrp="1"/>
          </p:cNvSpPr>
          <p:nvPr/>
        </p:nvSpPr>
        <p:spPr>
          <a:xfrm>
            <a:off x="5162550" y="425767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Reusable request framing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B552F1-5595-4CF8-B66D-8911B9A2A4AE}"/>
              </a:ext>
            </a:extLst>
          </p:cNvPr>
          <p:cNvSpPr>
            <a:spLocks noGrp="1"/>
          </p:cNvSpPr>
          <p:nvPr/>
        </p:nvSpPr>
        <p:spPr>
          <a:xfrm>
            <a:off x="7962900" y="42291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050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rPr>
              <a:t>.github/prompts/review-pr.prompt.md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3B8B480E-6EC7-4270-8625-8F1846E9EE75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1057275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BE9DDFF-048D-43E8-8597-DCF9EF359832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071B2E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A13367-97B1-47DB-A95B-11706189433D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15621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ADAPTERS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533CA2-D4D6-4602-9C5B-CF50058B90E4}"/>
              </a:ext>
            </a:extLst>
          </p:cNvPr>
          <p:cNvSpPr>
            <a:spLocks noGrp="1"/>
          </p:cNvSpPr>
          <p:nvPr/>
        </p:nvSpPr>
        <p:spPr>
          <a:xfrm>
            <a:off x="2876550" y="4981575"/>
            <a:ext cx="19431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Load by platform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3CEB11-4B00-4AF6-902F-9FDE51132753}"/>
              </a:ext>
            </a:extLst>
          </p:cNvPr>
          <p:cNvSpPr>
            <a:spLocks noGrp="1"/>
          </p:cNvSpPr>
          <p:nvPr/>
        </p:nvSpPr>
        <p:spPr>
          <a:xfrm>
            <a:off x="5162550" y="498157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Routing and native behavior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864E4C8-70A4-4CA7-B492-6FBB3E41456D}"/>
              </a:ext>
            </a:extLst>
          </p:cNvPr>
          <p:cNvSpPr>
            <a:spLocks noGrp="1"/>
          </p:cNvSpPr>
          <p:nvPr/>
        </p:nvSpPr>
        <p:spPr>
          <a:xfrm>
            <a:off x="7962900" y="49530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defRPr>
            </a:pPr>
            <a:r>
              <a:rPr sz="1050" b="0">
                <a:solidFill>
                  <a:srgbClr val="176B87"/>
                </a:solidFill>
                <a:latin typeface="Nimbus Mono PS"/>
                <a:ea typeface="Nimbus Mono PS"/>
                <a:cs typeface="Nimbus Mono PS"/>
              </a:rPr>
              <a:t>AGENTS.md, CLAUDE.md, .github/*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EB24A27-9F11-41E0-A182-9E9ACDAD5A36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572750" cy="419100"/>
          </a:xfrm>
          <a:prstGeom prst="roundRect">
            <a:avLst>
              <a:gd name="adj" fmla="val 22727"/>
            </a:avLst>
          </a:prstGeom>
          <a:solidFill>
            <a:srgbClr val="071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0246D2-B51E-4D9D-B108-1DDBA53327F6}"/>
              </a:ext>
            </a:extLst>
          </p:cNvPr>
          <p:cNvSpPr>
            <a:spLocks noGrp="1"/>
          </p:cNvSpPr>
          <p:nvPr/>
        </p:nvSpPr>
        <p:spPr>
          <a:xfrm>
            <a:off x="990600" y="5943600"/>
            <a:ext cx="101536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Agent configuration provides routing and context. Engineering knowledge remains authoritative content.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654C71FC-6C7E-43AA-A7AD-64F033E397ED}"/>
              </a:ext>
            </a:extLst>
          </p:cNvPr>
          <p:cNvSpPr>
            <a:spLocks noGrp="1"/>
          </p:cNvSpPr>
          <p:nvPr/>
        </p:nvSpPr>
        <p:spPr>
          <a:xfrm>
            <a:off x="647700" y="6457950"/>
            <a:ext cx="108966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579288-CCF3-42DA-896B-69A535D74BBE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Recommended Implementation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6AAA99-BC50-4723-9C3C-11E48A5D57F1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1D20EC-938E-1688-A373-CED304E22187}"/>
              </a:ext>
            </a:extLst>
          </p:cNvPr>
          <p:cNvSpPr>
            <a:spLocks noGrp="1"/>
          </p:cNvSpPr>
          <p:nvPr/>
        </p:nvSpPr>
        <p:spPr>
          <a:xfrm flipV="1">
            <a:off x="647700" y="1448817"/>
            <a:ext cx="10091636" cy="60896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33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0759856-F9A4-4008-96F8-850BAACF4376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Instruction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recedence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E01776-0A73-4E04-9B13-143056A9CD5F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The repository publishes one conflict-resolution model for every agent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224ABE-246E-47DE-A0B3-DCA0DE8CC5DB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457200" cy="457200"/>
          </a:xfrm>
          <a:prstGeom prst="ellipse">
            <a:avLst/>
          </a:prstGeom>
          <a:solidFill>
            <a:srgbClr val="FF8A5B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859A79-884A-4579-A846-1ADCEBEAFB60}"/>
              </a:ext>
            </a:extLst>
          </p:cNvPr>
          <p:cNvSpPr>
            <a:spLocks noGrp="1"/>
          </p:cNvSpPr>
          <p:nvPr/>
        </p:nvSpPr>
        <p:spPr>
          <a:xfrm>
            <a:off x="1771650" y="1657350"/>
            <a:ext cx="3714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Explicit user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36E267-83F6-424C-947E-77E0D30ED6EC}"/>
              </a:ext>
            </a:extLst>
          </p:cNvPr>
          <p:cNvSpPr>
            <a:spLocks noGrp="1"/>
          </p:cNvSpPr>
          <p:nvPr/>
        </p:nvSpPr>
        <p:spPr>
          <a:xfrm>
            <a:off x="1771650" y="1962150"/>
            <a:ext cx="4857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Current scope and authorized exception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1CCB118-0F68-4801-B657-DC44F4B870B0}"/>
              </a:ext>
            </a:extLst>
          </p:cNvPr>
          <p:cNvSpPr>
            <a:spLocks noGrp="1"/>
          </p:cNvSpPr>
          <p:nvPr/>
        </p:nvSpPr>
        <p:spPr>
          <a:xfrm>
            <a:off x="1276350" y="2095500"/>
            <a:ext cx="0" cy="381000"/>
          </a:xfrm>
          <a:prstGeom prst="line">
            <a:avLst/>
          </a:prstGeom>
          <a:noFill/>
          <a:ln w="66675">
            <a:solidFill>
              <a:srgbClr val="CCD9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DC262A-D842-4983-8361-35FA953BBFA6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457200" cy="457200"/>
          </a:xfrm>
          <a:prstGeom prst="ellipse">
            <a:avLst/>
          </a:prstGeom>
          <a:solidFill>
            <a:srgbClr val="071B2E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0E1600-074C-461A-A9E2-BB8B8E3FBA77}"/>
              </a:ext>
            </a:extLst>
          </p:cNvPr>
          <p:cNvSpPr>
            <a:spLocks noGrp="1"/>
          </p:cNvSpPr>
          <p:nvPr/>
        </p:nvSpPr>
        <p:spPr>
          <a:xfrm>
            <a:off x="1771650" y="2495550"/>
            <a:ext cx="3714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Repository-specific instructions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A8F9F1-CE15-4EBD-9CE6-61F63A0CD7D0}"/>
              </a:ext>
            </a:extLst>
          </p:cNvPr>
          <p:cNvSpPr>
            <a:spLocks noGrp="1"/>
          </p:cNvSpPr>
          <p:nvPr/>
        </p:nvSpPr>
        <p:spPr>
          <a:xfrm>
            <a:off x="1771650" y="2800350"/>
            <a:ext cx="4857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Architecture, commands, local constraints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B774200-7659-4000-AB4C-E324B5A1B108}"/>
              </a:ext>
            </a:extLst>
          </p:cNvPr>
          <p:cNvSpPr>
            <a:spLocks noGrp="1"/>
          </p:cNvSpPr>
          <p:nvPr/>
        </p:nvSpPr>
        <p:spPr>
          <a:xfrm>
            <a:off x="1276350" y="2933700"/>
            <a:ext cx="0" cy="381000"/>
          </a:xfrm>
          <a:prstGeom prst="line">
            <a:avLst/>
          </a:prstGeom>
          <a:noFill/>
          <a:ln w="66675">
            <a:solidFill>
              <a:srgbClr val="CCD9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BB6F7F-661F-45A1-9049-4FFD60772889}"/>
              </a:ext>
            </a:extLst>
          </p:cNvPr>
          <p:cNvSpPr>
            <a:spLocks noGrp="1"/>
          </p:cNvSpPr>
          <p:nvPr/>
        </p:nvSpPr>
        <p:spPr>
          <a:xfrm>
            <a:off x="1047750" y="3314700"/>
            <a:ext cx="457200" cy="457200"/>
          </a:xfrm>
          <a:prstGeom prst="ellipse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5BAA8E-56A0-446C-B083-34331FA587A4}"/>
              </a:ext>
            </a:extLst>
          </p:cNvPr>
          <p:cNvSpPr>
            <a:spLocks noGrp="1"/>
          </p:cNvSpPr>
          <p:nvPr/>
        </p:nvSpPr>
        <p:spPr>
          <a:xfrm>
            <a:off x="1771650" y="3333750"/>
            <a:ext cx="3714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Path-specific instructions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BD4865-971C-4B69-938B-72BE3AEE87A2}"/>
              </a:ext>
            </a:extLst>
          </p:cNvPr>
          <p:cNvSpPr>
            <a:spLocks noGrp="1"/>
          </p:cNvSpPr>
          <p:nvPr/>
        </p:nvSpPr>
        <p:spPr>
          <a:xfrm>
            <a:off x="1771650" y="3638550"/>
            <a:ext cx="4857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Rules for the files being changed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EC46C30-0C68-4A18-8B78-A955E8A4626E}"/>
              </a:ext>
            </a:extLst>
          </p:cNvPr>
          <p:cNvSpPr>
            <a:spLocks noGrp="1"/>
          </p:cNvSpPr>
          <p:nvPr/>
        </p:nvSpPr>
        <p:spPr>
          <a:xfrm>
            <a:off x="1276350" y="3771900"/>
            <a:ext cx="0" cy="381000"/>
          </a:xfrm>
          <a:prstGeom prst="line">
            <a:avLst/>
          </a:prstGeom>
          <a:noFill/>
          <a:ln w="66675">
            <a:solidFill>
              <a:srgbClr val="CCD9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6496C01-D40B-4C9A-8F5E-4C9EC579FE87}"/>
              </a:ext>
            </a:extLst>
          </p:cNvPr>
          <p:cNvSpPr>
            <a:spLocks noGrp="1"/>
          </p:cNvSpPr>
          <p:nvPr/>
        </p:nvSpPr>
        <p:spPr>
          <a:xfrm>
            <a:off x="1047750" y="4152900"/>
            <a:ext cx="457200" cy="457200"/>
          </a:xfrm>
          <a:prstGeom prst="ellipse">
            <a:avLst/>
          </a:prstGeom>
          <a:solidFill>
            <a:srgbClr val="2E8B74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41C61F-9CC1-4AFE-AF88-71C228C25369}"/>
              </a:ext>
            </a:extLst>
          </p:cNvPr>
          <p:cNvSpPr>
            <a:spLocks noGrp="1"/>
          </p:cNvSpPr>
          <p:nvPr/>
        </p:nvSpPr>
        <p:spPr>
          <a:xfrm>
            <a:off x="1771650" y="4171950"/>
            <a:ext cx="3714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Shared engineering standards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EEE0C6-147E-49E3-91F6-32D4AD2D24C5}"/>
              </a:ext>
            </a:extLst>
          </p:cNvPr>
          <p:cNvSpPr>
            <a:spLocks noGrp="1"/>
          </p:cNvSpPr>
          <p:nvPr/>
        </p:nvSpPr>
        <p:spPr>
          <a:xfrm>
            <a:off x="1771650" y="4476750"/>
            <a:ext cx="4857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Organization and technology defaults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5A1F6991-D9C7-4C8D-B932-DE1B5EE78F3E}"/>
              </a:ext>
            </a:extLst>
          </p:cNvPr>
          <p:cNvSpPr>
            <a:spLocks noGrp="1"/>
          </p:cNvSpPr>
          <p:nvPr/>
        </p:nvSpPr>
        <p:spPr>
          <a:xfrm>
            <a:off x="1276350" y="4610100"/>
            <a:ext cx="0" cy="381000"/>
          </a:xfrm>
          <a:prstGeom prst="line">
            <a:avLst/>
          </a:prstGeom>
          <a:noFill/>
          <a:ln w="66675">
            <a:solidFill>
              <a:srgbClr val="CCD9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4A01A2-20FD-4F13-8008-6399EF8B963D}"/>
              </a:ext>
            </a:extLst>
          </p:cNvPr>
          <p:cNvSpPr>
            <a:spLocks noGrp="1"/>
          </p:cNvSpPr>
          <p:nvPr/>
        </p:nvSpPr>
        <p:spPr>
          <a:xfrm>
            <a:off x="1047750" y="4991100"/>
            <a:ext cx="457200" cy="457200"/>
          </a:xfrm>
          <a:prstGeom prst="ellipse">
            <a:avLst/>
          </a:prstGeom>
          <a:solidFill>
            <a:srgbClr val="627D98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E8AA9D-5D33-47AC-932F-F9FCCF1F7394}"/>
              </a:ext>
            </a:extLst>
          </p:cNvPr>
          <p:cNvSpPr>
            <a:spLocks noGrp="1"/>
          </p:cNvSpPr>
          <p:nvPr/>
        </p:nvSpPr>
        <p:spPr>
          <a:xfrm>
            <a:off x="1771650" y="5010150"/>
            <a:ext cx="3714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General agent defaults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CEEDEF-1E77-47C2-8604-FA4517C744C5}"/>
              </a:ext>
            </a:extLst>
          </p:cNvPr>
          <p:cNvSpPr>
            <a:spLocks noGrp="1"/>
          </p:cNvSpPr>
          <p:nvPr/>
        </p:nvSpPr>
        <p:spPr>
          <a:xfrm>
            <a:off x="1771650" y="5314950"/>
            <a:ext cx="4857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Platform behavior when no higher rule applies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48A8D89-CE5B-408D-B6A8-708FCAB21918}"/>
              </a:ext>
            </a:extLst>
          </p:cNvPr>
          <p:cNvSpPr>
            <a:spLocks noGrp="1"/>
          </p:cNvSpPr>
          <p:nvPr/>
        </p:nvSpPr>
        <p:spPr>
          <a:xfrm>
            <a:off x="7181850" y="1809750"/>
            <a:ext cx="3943350" cy="3124200"/>
          </a:xfrm>
          <a:prstGeom prst="roundRect">
            <a:avLst>
              <a:gd name="adj" fmla="val 4878"/>
            </a:avLst>
          </a:prstGeom>
          <a:solidFill>
            <a:srgbClr val="EAF4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9A44B-139C-46F3-ACB2-614D9A3DE2D4}"/>
              </a:ext>
            </a:extLst>
          </p:cNvPr>
          <p:cNvSpPr>
            <a:spLocks noGrp="1"/>
          </p:cNvSpPr>
          <p:nvPr/>
        </p:nvSpPr>
        <p:spPr>
          <a:xfrm>
            <a:off x="7486650" y="21145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176B87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76B87"/>
                </a:solidFill>
                <a:latin typeface="Nimbus Sans"/>
                <a:ea typeface="Nimbus Sans"/>
                <a:cs typeface="Nimbus Sans"/>
              </a:rPr>
              <a:t>ADAPTER RULE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F731D9-2811-405C-85B2-57EDDA7B2BD3}"/>
              </a:ext>
            </a:extLst>
          </p:cNvPr>
          <p:cNvSpPr>
            <a:spLocks noGrp="1"/>
          </p:cNvSpPr>
          <p:nvPr/>
        </p:nvSpPr>
        <p:spPr>
          <a:xfrm>
            <a:off x="7600950" y="2647950"/>
            <a:ext cx="310515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Platform files may add native behavior, but they do not redefine shared engineering standards unless AGENTS.md documents the exception.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B0E3B86-4BC8-4F68-B191-6D941B3CF9AF}"/>
              </a:ext>
            </a:extLst>
          </p:cNvPr>
          <p:cNvSpPr>
            <a:spLocks noGrp="1"/>
          </p:cNvSpPr>
          <p:nvPr/>
        </p:nvSpPr>
        <p:spPr>
          <a:xfrm>
            <a:off x="647700" y="6457950"/>
            <a:ext cx="108966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06A7E0-F701-411B-BAA7-4BA664628129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Recommended Implementation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7B5B2E-618E-4CB4-8C11-0B00C86F73F7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13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41033-0AC2-022F-0313-4C7464856CAD}"/>
              </a:ext>
            </a:extLst>
          </p:cNvPr>
          <p:cNvSpPr>
            <a:spLocks noGrp="1"/>
          </p:cNvSpPr>
          <p:nvPr/>
        </p:nvSpPr>
        <p:spPr>
          <a:xfrm flipV="1">
            <a:off x="647700" y="1448817"/>
            <a:ext cx="10091636" cy="60896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6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19399C2-0EED-41B3-96AB-13FB9F226924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Implementation </a:t>
            </a:r>
            <a:r>
              <a:rPr lang="en-US"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</a:t>
            </a:r>
            <a:r>
              <a:rPr sz="2550" b="1" dirty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equence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417B9C-4616-4760-911F-F7382B9B0195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9906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 pilot-first rollout establishes governance before broad repository adoption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7A065F-7522-4823-985C-AD99E5AD2FEF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514350" cy="514350"/>
          </a:xfrm>
          <a:prstGeom prst="ellipse">
            <a:avLst/>
          </a:prstGeom>
          <a:solidFill>
            <a:srgbClr val="FF8A5B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27FDD6-41A5-4A23-981D-AE4C26DE5A59}"/>
              </a:ext>
            </a:extLst>
          </p:cNvPr>
          <p:cNvSpPr>
            <a:spLocks noGrp="1"/>
          </p:cNvSpPr>
          <p:nvPr/>
        </p:nvSpPr>
        <p:spPr>
          <a:xfrm>
            <a:off x="1504950" y="170497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Create the shared 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19AF78-7D1F-4CB5-8399-C4D83F5A5192}"/>
              </a:ext>
            </a:extLst>
          </p:cNvPr>
          <p:cNvSpPr>
            <a:spLocks noGrp="1"/>
          </p:cNvSpPr>
          <p:nvPr/>
        </p:nvSpPr>
        <p:spPr>
          <a:xfrm>
            <a:off x="1504950" y="204787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Standards, workflows, skills, templates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ACB6A09-2FA8-4959-9E44-952B851DA04C}"/>
              </a:ext>
            </a:extLst>
          </p:cNvPr>
          <p:cNvSpPr>
            <a:spLocks noGrp="1"/>
          </p:cNvSpPr>
          <p:nvPr/>
        </p:nvSpPr>
        <p:spPr>
          <a:xfrm>
            <a:off x="1038225" y="2209800"/>
            <a:ext cx="0" cy="74295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2293E5-1957-461D-B810-4518AE2617FF}"/>
              </a:ext>
            </a:extLst>
          </p:cNvPr>
          <p:cNvSpPr>
            <a:spLocks noGrp="1"/>
          </p:cNvSpPr>
          <p:nvPr/>
        </p:nvSpPr>
        <p:spPr>
          <a:xfrm>
            <a:off x="6210300" y="1695450"/>
            <a:ext cx="514350" cy="514350"/>
          </a:xfrm>
          <a:prstGeom prst="ellipse">
            <a:avLst/>
          </a:prstGeom>
          <a:solidFill>
            <a:srgbClr val="FF8A5B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10F384-E2EA-492F-B146-101773F79E82}"/>
              </a:ext>
            </a:extLst>
          </p:cNvPr>
          <p:cNvSpPr>
            <a:spLocks noGrp="1"/>
          </p:cNvSpPr>
          <p:nvPr/>
        </p:nvSpPr>
        <p:spPr>
          <a:xfrm>
            <a:off x="6934200" y="170497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Define authority and precedence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F1B08-AFDF-4408-9C5D-F8663E21D011}"/>
              </a:ext>
            </a:extLst>
          </p:cNvPr>
          <p:cNvSpPr>
            <a:spLocks noGrp="1"/>
          </p:cNvSpPr>
          <p:nvPr/>
        </p:nvSpPr>
        <p:spPr>
          <a:xfrm>
            <a:off x="6934200" y="204787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Document ownership and exception handling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52F390A-24A4-497C-BA19-A52E2C491832}"/>
              </a:ext>
            </a:extLst>
          </p:cNvPr>
          <p:cNvSpPr>
            <a:spLocks noGrp="1"/>
          </p:cNvSpPr>
          <p:nvPr/>
        </p:nvSpPr>
        <p:spPr>
          <a:xfrm>
            <a:off x="6467475" y="2209800"/>
            <a:ext cx="0" cy="74295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1488C4-387A-4A9F-967B-369CF6663DE0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514350" cy="514350"/>
          </a:xfrm>
          <a:prstGeom prst="ellipse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2BE607-4C47-473B-8885-0D3F5198A2C7}"/>
              </a:ext>
            </a:extLst>
          </p:cNvPr>
          <p:cNvSpPr>
            <a:spLocks noGrp="1"/>
          </p:cNvSpPr>
          <p:nvPr/>
        </p:nvSpPr>
        <p:spPr>
          <a:xfrm>
            <a:off x="1504950" y="296227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Build thin agent adapters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10165C-83B5-46D4-86BB-E05C5838BCDC}"/>
              </a:ext>
            </a:extLst>
          </p:cNvPr>
          <p:cNvSpPr>
            <a:spLocks noGrp="1"/>
          </p:cNvSpPr>
          <p:nvPr/>
        </p:nvSpPr>
        <p:spPr>
          <a:xfrm>
            <a:off x="1504950" y="330517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AGENTS.md, CLAUDE.md, Copilot instructions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87E37A2B-A374-4B58-9E2E-3C9067EB4E71}"/>
              </a:ext>
            </a:extLst>
          </p:cNvPr>
          <p:cNvSpPr>
            <a:spLocks noGrp="1"/>
          </p:cNvSpPr>
          <p:nvPr/>
        </p:nvSpPr>
        <p:spPr>
          <a:xfrm>
            <a:off x="1038225" y="3467100"/>
            <a:ext cx="0" cy="74295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1D04D03-0D59-4F61-8D32-DF4FF5EEA48D}"/>
              </a:ext>
            </a:extLst>
          </p:cNvPr>
          <p:cNvSpPr>
            <a:spLocks noGrp="1"/>
          </p:cNvSpPr>
          <p:nvPr/>
        </p:nvSpPr>
        <p:spPr>
          <a:xfrm>
            <a:off x="6210300" y="2952750"/>
            <a:ext cx="514350" cy="514350"/>
          </a:xfrm>
          <a:prstGeom prst="ellipse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598204-BECF-49F1-9BF5-D84A5D96DB76}"/>
              </a:ext>
            </a:extLst>
          </p:cNvPr>
          <p:cNvSpPr>
            <a:spLocks noGrp="1"/>
          </p:cNvSpPr>
          <p:nvPr/>
        </p:nvSpPr>
        <p:spPr>
          <a:xfrm>
            <a:off x="6934200" y="296227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Publish a versioned snapshot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AE1176-414F-42BA-B022-1761035E61A8}"/>
              </a:ext>
            </a:extLst>
          </p:cNvPr>
          <p:cNvSpPr>
            <a:spLocks noGrp="1"/>
          </p:cNvSpPr>
          <p:nvPr/>
        </p:nvSpPr>
        <p:spPr>
          <a:xfrm>
            <a:off x="6934200" y="330517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Pin .agent/VERSION in each repository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81DDD4E0-8CF9-4181-B820-A67ABF142A1A}"/>
              </a:ext>
            </a:extLst>
          </p:cNvPr>
          <p:cNvSpPr>
            <a:spLocks noGrp="1"/>
          </p:cNvSpPr>
          <p:nvPr/>
        </p:nvSpPr>
        <p:spPr>
          <a:xfrm>
            <a:off x="6467475" y="3467100"/>
            <a:ext cx="0" cy="74295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BB46A1-FEDD-4F15-B4C9-263A22B5E120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514350" cy="514350"/>
          </a:xfrm>
          <a:prstGeom prst="ellipse">
            <a:avLst/>
          </a:prstGeom>
          <a:solidFill>
            <a:srgbClr val="2E8B74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76DEA3-D279-4460-87A8-42DC5998E1F5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Automate update pull requests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170672-212E-4CE7-999F-32F9272FC700}"/>
              </a:ext>
            </a:extLst>
          </p:cNvPr>
          <p:cNvSpPr>
            <a:spLocks noGrp="1"/>
          </p:cNvSpPr>
          <p:nvPr/>
        </p:nvSpPr>
        <p:spPr>
          <a:xfrm>
            <a:off x="1504950" y="456247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Review changes like dependency upgrades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4785309-47DF-435A-8B30-A27DC8DB129F}"/>
              </a:ext>
            </a:extLst>
          </p:cNvPr>
          <p:cNvSpPr>
            <a:spLocks noGrp="1"/>
          </p:cNvSpPr>
          <p:nvPr/>
        </p:nvSpPr>
        <p:spPr>
          <a:xfrm>
            <a:off x="6210300" y="4210050"/>
            <a:ext cx="514350" cy="514350"/>
          </a:xfrm>
          <a:prstGeom prst="ellipse">
            <a:avLst/>
          </a:prstGeom>
          <a:solidFill>
            <a:srgbClr val="2E8B74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0609D6-3E98-46F0-AA02-A0DBC18D184D}"/>
              </a:ext>
            </a:extLst>
          </p:cNvPr>
          <p:cNvSpPr>
            <a:spLocks noGrp="1"/>
          </p:cNvSpPr>
          <p:nvPr/>
        </p:nvSpPr>
        <p:spPr>
          <a:xfrm>
            <a:off x="6934200" y="4219575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Pilot, measure, then expand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CF830D-2E08-44BC-AAEE-E65DAF07FF86}"/>
              </a:ext>
            </a:extLst>
          </p:cNvPr>
          <p:cNvSpPr>
            <a:spLocks noGrp="1"/>
          </p:cNvSpPr>
          <p:nvPr/>
        </p:nvSpPr>
        <p:spPr>
          <a:xfrm>
            <a:off x="6934200" y="456247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Start with one .NET repo and SB AutoPilot Board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A3CF888-60C2-47D5-9E06-9A190D97F562}"/>
              </a:ext>
            </a:extLst>
          </p:cNvPr>
          <p:cNvSpPr>
            <a:spLocks noGrp="1"/>
          </p:cNvSpPr>
          <p:nvPr/>
        </p:nvSpPr>
        <p:spPr>
          <a:xfrm>
            <a:off x="781050" y="5600700"/>
            <a:ext cx="10572750" cy="514350"/>
          </a:xfrm>
          <a:prstGeom prst="roundRect">
            <a:avLst>
              <a:gd name="adj" fmla="val 18519"/>
            </a:avLst>
          </a:prstGeom>
          <a:solidFill>
            <a:srgbClr val="071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FCA7C5-861D-4DE7-A7BA-BBB0B9AF733C}"/>
              </a:ext>
            </a:extLst>
          </p:cNvPr>
          <p:cNvSpPr>
            <a:spLocks noGrp="1"/>
          </p:cNvSpPr>
          <p:nvPr/>
        </p:nvSpPr>
        <p:spPr>
          <a:xfrm>
            <a:off x="1047750" y="5667375"/>
            <a:ext cx="100393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Treat standards updates as controlled, reviewable changes rather than silent configuration drift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0F7B7CD1-38FE-49BD-BD15-6659DAB41517}"/>
              </a:ext>
            </a:extLst>
          </p:cNvPr>
          <p:cNvSpPr>
            <a:spLocks noGrp="1"/>
          </p:cNvSpPr>
          <p:nvPr/>
        </p:nvSpPr>
        <p:spPr>
          <a:xfrm>
            <a:off x="647700" y="6457950"/>
            <a:ext cx="10896600" cy="0"/>
          </a:xfrm>
          <a:prstGeom prst="line">
            <a:avLst/>
          </a:prstGeom>
          <a:noFill/>
          <a:ln w="9525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90FF52-4812-415F-A21E-DF09893099BF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Recommended Implementation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DEC54E-8DC2-48AB-950B-C506627A5D8C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3CBB49-7B66-16ED-BD27-3FC5D675059F}"/>
              </a:ext>
            </a:extLst>
          </p:cNvPr>
          <p:cNvSpPr>
            <a:spLocks noGrp="1"/>
          </p:cNvSpPr>
          <p:nvPr/>
        </p:nvSpPr>
        <p:spPr>
          <a:xfrm flipV="1">
            <a:off x="647700" y="1448817"/>
            <a:ext cx="10091636" cy="60896"/>
          </a:xfrm>
          <a:prstGeom prst="rect">
            <a:avLst/>
          </a:prstGeom>
          <a:solidFill>
            <a:srgbClr val="64CCC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15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219588F-CE97-4E93-B201-FFD5BA6DBB7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60198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Recommended </a:t>
            </a:r>
            <a:r>
              <a:rPr lang="en-US" sz="2850" b="1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</a:t>
            </a:r>
            <a:r>
              <a:rPr sz="2850" b="1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nd </a:t>
            </a:r>
            <a:r>
              <a:rPr lang="en-US" sz="2850" b="1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</a:t>
            </a:r>
            <a:r>
              <a:rPr sz="2850" b="1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4668EF-C339-4BFC-9940-ED10C89E3AB9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64CCC5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64CCC5"/>
                </a:solidFill>
                <a:latin typeface="Nimbus Sans"/>
                <a:ea typeface="Nimbus Sans"/>
                <a:cs typeface="Nimbus Sans"/>
              </a:rPr>
              <a:t>One shared engineering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B0698-C285-4C2E-B2F8-288A37A56E49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49530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00" b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Stable standards and workflows live in a central, versioned repository.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9DC374-3353-4395-B0D3-9B4031E537EB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64CCC5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64CCC5"/>
                </a:solidFill>
                <a:latin typeface="Nimbus Sans"/>
                <a:ea typeface="Nimbus Sans"/>
                <a:cs typeface="Nimbus Sans"/>
              </a:rPr>
              <a:t>Many repository contexts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AE22E-C195-4994-80DF-B2F8C32AC541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4953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00" b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Each application keeps its architecture, commands, constraints, and pinned snapshot close to the code.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DD9971-BFB6-47F8-9667-46649CD3F11B}"/>
              </a:ext>
            </a:extLst>
          </p:cNvPr>
          <p:cNvSpPr>
            <a:spLocks noGrp="1"/>
          </p:cNvSpPr>
          <p:nvPr/>
        </p:nvSpPr>
        <p:spPr>
          <a:xfrm>
            <a:off x="781050" y="51244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64CCC5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 dirty="0">
                <a:solidFill>
                  <a:srgbClr val="64CCC5"/>
                </a:solidFill>
                <a:latin typeface="Nimbus Sans"/>
                <a:ea typeface="Nimbus Sans"/>
                <a:cs typeface="Nimbus Sans"/>
              </a:rPr>
              <a:t>Multiple agent front ends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531B9C-BDF9-4B63-8C04-7DFC65DB704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00" b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Thin adapters preserve Codex, Claude, and Copilot capabilities without duplicating authority.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489041-6930-4FC6-8A5D-53627801EF57}"/>
              </a:ext>
            </a:extLst>
          </p:cNvPr>
          <p:cNvSpPr>
            <a:spLocks noGrp="1"/>
          </p:cNvSpPr>
          <p:nvPr/>
        </p:nvSpPr>
        <p:spPr>
          <a:xfrm>
            <a:off x="7353300" y="876300"/>
            <a:ext cx="3619500" cy="819150"/>
          </a:xfrm>
          <a:prstGeom prst="roundRect">
            <a:avLst>
              <a:gd name="adj" fmla="val 20930"/>
            </a:avLst>
          </a:prstGeom>
          <a:solidFill>
            <a:srgbClr val="64CCC5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3AB97-F9F9-4FEB-AFAB-3767ACB58E26}"/>
              </a:ext>
            </a:extLst>
          </p:cNvPr>
          <p:cNvSpPr>
            <a:spLocks noGrp="1"/>
          </p:cNvSpPr>
          <p:nvPr/>
        </p:nvSpPr>
        <p:spPr>
          <a:xfrm>
            <a:off x="7600950" y="876300"/>
            <a:ext cx="312420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E"/>
                </a:solidFill>
                <a:latin typeface="Nimbus Sans"/>
                <a:ea typeface="Nimbus Sans"/>
                <a:cs typeface="Nimbus Sans"/>
              </a:defRPr>
            </a:pPr>
            <a:r>
              <a:rPr sz="1600" b="1" dirty="0">
                <a:solidFill>
                  <a:srgbClr val="071B2E"/>
                </a:solidFill>
                <a:latin typeface="Nimbus Sans"/>
                <a:ea typeface="Nimbus Sans"/>
                <a:cs typeface="Nimbus Sans"/>
              </a:rPr>
              <a:t>SHARED ENGINEERING KNOWLEDGE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4A9174-4AE2-4278-BC4C-9716F2A29677}"/>
              </a:ext>
            </a:extLst>
          </p:cNvPr>
          <p:cNvSpPr>
            <a:spLocks noGrp="1"/>
          </p:cNvSpPr>
          <p:nvPr/>
        </p:nvSpPr>
        <p:spPr>
          <a:xfrm>
            <a:off x="7353300" y="2647950"/>
            <a:ext cx="36195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 sz="2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19CFB4-92EE-4294-9D51-60A1EC79A927}"/>
              </a:ext>
            </a:extLst>
          </p:cNvPr>
          <p:cNvSpPr>
            <a:spLocks noGrp="1"/>
          </p:cNvSpPr>
          <p:nvPr/>
        </p:nvSpPr>
        <p:spPr>
          <a:xfrm>
            <a:off x="7600950" y="2647950"/>
            <a:ext cx="31242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E"/>
                </a:solidFill>
                <a:latin typeface="Nimbus Sans"/>
                <a:ea typeface="Nimbus Sans"/>
                <a:cs typeface="Nimbus Sans"/>
              </a:defRPr>
            </a:pPr>
            <a:r>
              <a:rPr sz="1600" b="1" dirty="0">
                <a:solidFill>
                  <a:srgbClr val="071B2E"/>
                </a:solidFill>
                <a:latin typeface="Nimbus Sans"/>
                <a:ea typeface="Nimbus Sans"/>
                <a:cs typeface="Nimbus Sans"/>
              </a:rPr>
              <a:t>REPOSITORY CONTEXT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D0B734-34D7-4CD8-8985-6876A6A1C9BA}"/>
              </a:ext>
            </a:extLst>
          </p:cNvPr>
          <p:cNvSpPr>
            <a:spLocks noGrp="1"/>
          </p:cNvSpPr>
          <p:nvPr/>
        </p:nvSpPr>
        <p:spPr>
          <a:xfrm>
            <a:off x="6705600" y="4686300"/>
            <a:ext cx="1352550" cy="685800"/>
          </a:xfrm>
          <a:prstGeom prst="roundRect">
            <a:avLst>
              <a:gd name="adj" fmla="val 19444"/>
            </a:avLst>
          </a:prstGeom>
          <a:solidFill>
            <a:srgbClr val="FF8A5B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 sz="28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313461-630A-452B-A459-A5F588F30092}"/>
              </a:ext>
            </a:extLst>
          </p:cNvPr>
          <p:cNvSpPr>
            <a:spLocks noGrp="1"/>
          </p:cNvSpPr>
          <p:nvPr/>
        </p:nvSpPr>
        <p:spPr>
          <a:xfrm>
            <a:off x="8458200" y="4686300"/>
            <a:ext cx="1352550" cy="685800"/>
          </a:xfrm>
          <a:prstGeom prst="roundRect">
            <a:avLst>
              <a:gd name="adj" fmla="val 19444"/>
            </a:avLst>
          </a:prstGeom>
          <a:solidFill>
            <a:srgbClr val="2E8B74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 sz="28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8ADB6D-DFF7-4084-8FE4-7CD54C2E99FE}"/>
              </a:ext>
            </a:extLst>
          </p:cNvPr>
          <p:cNvSpPr>
            <a:spLocks noGrp="1"/>
          </p:cNvSpPr>
          <p:nvPr/>
        </p:nvSpPr>
        <p:spPr>
          <a:xfrm>
            <a:off x="10210800" y="4686300"/>
            <a:ext cx="1352550" cy="685800"/>
          </a:xfrm>
          <a:prstGeom prst="roundRect">
            <a:avLst>
              <a:gd name="adj" fmla="val 19444"/>
            </a:avLst>
          </a:prstGeom>
          <a:solidFill>
            <a:srgbClr val="176B87"/>
          </a:solidFill>
          <a:ln w="0">
            <a:noFill/>
            <a:prstDash val="solid"/>
          </a:ln>
        </p:spPr>
        <p:txBody>
          <a:bodyPr anchor="ctr"/>
          <a:lstStyle/>
          <a:p>
            <a:endParaRPr lang="en-US" sz="2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BC64FB-0719-4AB4-96D3-4CC6539DA74E}"/>
              </a:ext>
            </a:extLst>
          </p:cNvPr>
          <p:cNvSpPr>
            <a:spLocks noGrp="1"/>
          </p:cNvSpPr>
          <p:nvPr/>
        </p:nvSpPr>
        <p:spPr>
          <a:xfrm>
            <a:off x="6705600" y="4686300"/>
            <a:ext cx="13525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00" b="1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CODEX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50EF3D-78C4-4296-8C84-AF5076099514}"/>
              </a:ext>
            </a:extLst>
          </p:cNvPr>
          <p:cNvSpPr>
            <a:spLocks noGrp="1"/>
          </p:cNvSpPr>
          <p:nvPr/>
        </p:nvSpPr>
        <p:spPr>
          <a:xfrm>
            <a:off x="8458200" y="4686300"/>
            <a:ext cx="13525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00" b="1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CLAUDE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77B5F2-D4E8-466E-AB4A-951DF600D90C}"/>
              </a:ext>
            </a:extLst>
          </p:cNvPr>
          <p:cNvSpPr>
            <a:spLocks noGrp="1"/>
          </p:cNvSpPr>
          <p:nvPr/>
        </p:nvSpPr>
        <p:spPr>
          <a:xfrm>
            <a:off x="10210800" y="4686300"/>
            <a:ext cx="13525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00" b="1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COPILOT</a:t>
            </a:r>
          </a:p>
        </p:txBody>
      </p:sp>
      <p:cxnSp>
        <p:nvCxnSpPr>
          <p:cNvPr id="42" name="Straight Arrow Connector 41"/>
          <p:cNvCxnSpPr>
            <a:stCxn id="9" idx="2"/>
            <a:endCxn id="11" idx="0"/>
          </p:cNvCxnSpPr>
          <p:nvPr/>
        </p:nvCxnSpPr>
        <p:spPr>
          <a:xfrm>
            <a:off x="9163050" y="1695450"/>
            <a:ext cx="0" cy="952500"/>
          </a:xfrm>
          <a:prstGeom prst="straightConnector1">
            <a:avLst/>
          </a:prstGeom>
          <a:ln w="38100">
            <a:solidFill>
              <a:srgbClr val="BDEBE7"/>
            </a:solidFill>
            <a:headEnd type="triangle" w="med" len="med"/>
          </a:ln>
        </p:spPr>
      </p:cxnSp>
      <p:cxnSp>
        <p:nvCxnSpPr>
          <p:cNvPr id="43" name="Connector: Elbow 42"/>
          <p:cNvCxnSpPr>
            <a:stCxn id="11" idx="2"/>
            <a:endCxn id="13" idx="0"/>
          </p:cNvCxnSpPr>
          <p:nvPr/>
        </p:nvCxnSpPr>
        <p:spPr>
          <a:xfrm flipH="1">
            <a:off x="7381875" y="3409950"/>
            <a:ext cx="1781175" cy="12763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BDEBE7"/>
            </a:solidFill>
            <a:headEnd type="triangle" w="sm" len="sm"/>
          </a:ln>
        </p:spPr>
      </p:cxnSp>
      <p:cxnSp>
        <p:nvCxnSpPr>
          <p:cNvPr id="44" name="Connector: Elbow 43"/>
          <p:cNvCxnSpPr>
            <a:stCxn id="11" idx="2"/>
            <a:endCxn id="14" idx="0"/>
          </p:cNvCxnSpPr>
          <p:nvPr/>
        </p:nvCxnSpPr>
        <p:spPr>
          <a:xfrm flipH="1">
            <a:off x="9134475" y="3409950"/>
            <a:ext cx="28575" cy="12763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BDEBE7"/>
            </a:solidFill>
            <a:headEnd type="triangle" w="sm" len="sm"/>
          </a:ln>
        </p:spPr>
      </p:cxnSp>
      <p:cxnSp>
        <p:nvCxnSpPr>
          <p:cNvPr id="45" name="Connector: Elbow 44"/>
          <p:cNvCxnSpPr>
            <a:stCxn id="11" idx="2"/>
            <a:endCxn id="15" idx="0"/>
          </p:cNvCxnSpPr>
          <p:nvPr/>
        </p:nvCxnSpPr>
        <p:spPr>
          <a:xfrm>
            <a:off x="9163050" y="3409950"/>
            <a:ext cx="1724025" cy="12763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BDEBE7"/>
            </a:solidFill>
            <a:headEnd type="triangle" w="sm" len="sm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7D6B5-9C03-4010-BB1B-4AF1BBD7B60E}"/>
              </a:ext>
            </a:extLst>
          </p:cNvPr>
          <p:cNvSpPr>
            <a:spLocks noGrp="1"/>
          </p:cNvSpPr>
          <p:nvPr/>
        </p:nvSpPr>
        <p:spPr>
          <a:xfrm>
            <a:off x="6629400" y="59245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Centralize authority. Distribute context. Preserve platform strengths.</a:t>
            </a:r>
          </a:p>
        </p:txBody>
      </p:sp>
    </p:spTree>
    <p:extLst>
      <p:ext uri="{BB962C8B-B14F-4D97-AF65-F5344CB8AC3E}">
        <p14:creationId xmlns:p14="http://schemas.microsoft.com/office/powerpoint/2010/main" val="2293022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1233</Words>
  <Application>Microsoft Office PowerPoint</Application>
  <DocSecurity>0</DocSecurity>
  <PresentationFormat>Widescreen</PresentationFormat>
  <Paragraphs>295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Nimbus Mono PS</vt:lpstr>
      <vt:lpstr>Nimbus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Dean Fuqua - alvahdean@gmail.com</cp:lastModifiedBy>
  <cp:revision>28</cp:revision>
  <dcterms:created xsi:type="dcterms:W3CDTF">2026-09-21T20:52:06Z</dcterms:created>
  <dcterms:modified xsi:type="dcterms:W3CDTF">2026-09-25T17:31:47Z</dcterms:modified>
</cp:coreProperties>
</file>